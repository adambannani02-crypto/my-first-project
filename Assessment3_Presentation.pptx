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12188952" cy="18288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1274552" cy="914400"/>
          </a:xfrm>
          <a:prstGeom prst="rect">
            <a:avLst/>
          </a:prstGeom>
          <a:noFill/>
        </p:spPr>
        <p:txBody>
          <a:bodyPr wrap="square">
            <a:spAutoFit/>
          </a:bodyPr>
          <a:lstStyle/>
          <a:p>
            <a:pPr algn="ctr"/>
            <a:r>
              <a:rPr sz="3200" b="1" i="0">
                <a:solidFill>
                  <a:srgbClr val="FFFFFF"/>
                </a:solidFill>
              </a:rPr>
              <a:t>3D CAD Modelling &amp; FEA Validation</a:t>
            </a:r>
          </a:p>
        </p:txBody>
      </p:sp>
      <p:sp>
        <p:nvSpPr>
          <p:cNvPr id="5" name="TextBox 4"/>
          <p:cNvSpPr txBox="1"/>
          <p:nvPr/>
        </p:nvSpPr>
        <p:spPr>
          <a:xfrm>
            <a:off x="457200" y="1737360"/>
            <a:ext cx="11274552" cy="548640"/>
          </a:xfrm>
          <a:prstGeom prst="rect">
            <a:avLst/>
          </a:prstGeom>
          <a:noFill/>
        </p:spPr>
        <p:txBody>
          <a:bodyPr wrap="square">
            <a:spAutoFit/>
          </a:bodyPr>
          <a:lstStyle/>
          <a:p>
            <a:pPr algn="ctr"/>
            <a:r>
              <a:rPr sz="1800" b="0" i="0">
                <a:solidFill>
                  <a:srgbClr val="BDD7EE"/>
                </a:solidFill>
              </a:rPr>
              <a:t>Plastic Side-Release Buckle — Male Insert (PA Type 6)</a:t>
            </a:r>
          </a:p>
        </p:txBody>
      </p:sp>
      <p:sp>
        <p:nvSpPr>
          <p:cNvPr id="6" name="TextBox 5"/>
          <p:cNvSpPr txBox="1"/>
          <p:nvPr/>
        </p:nvSpPr>
        <p:spPr>
          <a:xfrm>
            <a:off x="457200" y="2743200"/>
            <a:ext cx="11274552" cy="457200"/>
          </a:xfrm>
          <a:prstGeom prst="rect">
            <a:avLst/>
          </a:prstGeom>
          <a:noFill/>
        </p:spPr>
        <p:txBody>
          <a:bodyPr wrap="square">
            <a:spAutoFit/>
          </a:bodyPr>
          <a:lstStyle/>
          <a:p>
            <a:pPr algn="ctr"/>
            <a:r>
              <a:rPr sz="1600" b="1" i="0">
                <a:solidFill>
                  <a:srgbClr val="FFFFFF"/>
                </a:solidFill>
              </a:rPr>
              <a:t>Assessment 3 — Group Final Project</a:t>
            </a:r>
          </a:p>
        </p:txBody>
      </p:sp>
      <p:sp>
        <p:nvSpPr>
          <p:cNvPr id="7" name="TextBox 6"/>
          <p:cNvSpPr txBox="1"/>
          <p:nvPr/>
        </p:nvSpPr>
        <p:spPr>
          <a:xfrm>
            <a:off x="457200" y="3246120"/>
            <a:ext cx="11274552" cy="365760"/>
          </a:xfrm>
          <a:prstGeom prst="rect">
            <a:avLst/>
          </a:prstGeom>
          <a:noFill/>
        </p:spPr>
        <p:txBody>
          <a:bodyPr wrap="square">
            <a:spAutoFit/>
          </a:bodyPr>
          <a:lstStyle/>
          <a:p>
            <a:pPr algn="ctr"/>
            <a:r>
              <a:rPr sz="1300" b="0" i="0">
                <a:solidFill>
                  <a:srgbClr val="BDD7EE"/>
                </a:solidFill>
              </a:rPr>
              <a:t>DM024-4-2 Manufacturing Processes</a:t>
            </a:r>
          </a:p>
        </p:txBody>
      </p:sp>
      <p:sp>
        <p:nvSpPr>
          <p:cNvPr id="8" name="TextBox 7"/>
          <p:cNvSpPr txBox="1"/>
          <p:nvPr/>
        </p:nvSpPr>
        <p:spPr>
          <a:xfrm>
            <a:off x="457200" y="5029200"/>
            <a:ext cx="11274552" cy="365760"/>
          </a:xfrm>
          <a:prstGeom prst="rect">
            <a:avLst/>
          </a:prstGeom>
          <a:noFill/>
        </p:spPr>
        <p:txBody>
          <a:bodyPr wrap="square">
            <a:spAutoFit/>
          </a:bodyPr>
          <a:lstStyle/>
          <a:p>
            <a:pPr algn="ctr"/>
            <a:r>
              <a:rPr sz="1200" b="0" i="0">
                <a:solidFill>
                  <a:srgbClr val="BDD7EE"/>
                </a:solidFill>
              </a:rPr>
              <a:t>Adam Mohamed Abdelkader Mohamed Elbannani  |  TP073524</a:t>
            </a:r>
          </a:p>
        </p:txBody>
      </p:sp>
      <p:sp>
        <p:nvSpPr>
          <p:cNvPr id="9" name="TextBox 8"/>
          <p:cNvSpPr txBox="1"/>
          <p:nvPr/>
        </p:nvSpPr>
        <p:spPr>
          <a:xfrm>
            <a:off x="457200" y="5440680"/>
            <a:ext cx="11274552" cy="365760"/>
          </a:xfrm>
          <a:prstGeom prst="rect">
            <a:avLst/>
          </a:prstGeom>
          <a:noFill/>
        </p:spPr>
        <p:txBody>
          <a:bodyPr wrap="square">
            <a:spAutoFit/>
          </a:bodyPr>
          <a:lstStyle/>
          <a:p>
            <a:pPr algn="ctr"/>
            <a:r>
              <a:rPr sz="1200" b="0" i="0">
                <a:solidFill>
                  <a:srgbClr val="BDD7EE"/>
                </a:solidFill>
              </a:rPr>
              <a:t>Asia Pacific University of Technology &amp; Innovation (APU)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Presentation Overview</a:t>
            </a:r>
          </a:p>
        </p:txBody>
      </p:sp>
      <p:sp>
        <p:nvSpPr>
          <p:cNvPr id="4" name="Rectangle 3"/>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6" name="TextBox 5"/>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7" name="Rectangle 6"/>
          <p:cNvSpPr/>
          <p:nvPr/>
        </p:nvSpPr>
        <p:spPr>
          <a:xfrm>
            <a:off x="274320" y="1188720"/>
            <a:ext cx="11640312" cy="5166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457200" cy="5943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17320"/>
            <a:ext cx="457200" cy="502920"/>
          </a:xfrm>
          <a:prstGeom prst="rect">
            <a:avLst/>
          </a:prstGeom>
          <a:noFill/>
        </p:spPr>
        <p:txBody>
          <a:bodyPr wrap="square">
            <a:spAutoFit/>
          </a:bodyPr>
          <a:lstStyle/>
          <a:p>
            <a:pPr algn="ctr"/>
            <a:r>
              <a:rPr sz="1800" b="1" i="0">
                <a:solidFill>
                  <a:srgbClr val="FFFFFF"/>
                </a:solidFill>
              </a:rPr>
              <a:t>1.</a:t>
            </a:r>
          </a:p>
        </p:txBody>
      </p:sp>
      <p:sp>
        <p:nvSpPr>
          <p:cNvPr id="10" name="TextBox 9"/>
          <p:cNvSpPr txBox="1"/>
          <p:nvPr/>
        </p:nvSpPr>
        <p:spPr>
          <a:xfrm>
            <a:off x="1051560" y="1371600"/>
            <a:ext cx="8686800" cy="320040"/>
          </a:xfrm>
          <a:prstGeom prst="rect">
            <a:avLst/>
          </a:prstGeom>
          <a:noFill/>
        </p:spPr>
        <p:txBody>
          <a:bodyPr wrap="square">
            <a:spAutoFit/>
          </a:bodyPr>
          <a:lstStyle/>
          <a:p>
            <a:pPr algn="l"/>
            <a:r>
              <a:rPr sz="1500" b="1" i="0">
                <a:solidFill>
                  <a:srgbClr val="1F3564"/>
                </a:solidFill>
              </a:rPr>
              <a:t>Criteria 1: 3D CAD Model Development</a:t>
            </a:r>
          </a:p>
        </p:txBody>
      </p:sp>
      <p:sp>
        <p:nvSpPr>
          <p:cNvPr id="11" name="TextBox 10"/>
          <p:cNvSpPr txBox="1"/>
          <p:nvPr/>
        </p:nvSpPr>
        <p:spPr>
          <a:xfrm>
            <a:off x="1051560" y="1691640"/>
            <a:ext cx="10332720" cy="365760"/>
          </a:xfrm>
          <a:prstGeom prst="rect">
            <a:avLst/>
          </a:prstGeom>
          <a:noFill/>
        </p:spPr>
        <p:txBody>
          <a:bodyPr wrap="square">
            <a:spAutoFit/>
          </a:bodyPr>
          <a:lstStyle/>
          <a:p>
            <a:pPr algn="l"/>
            <a:r>
              <a:rPr sz="1100" b="0" i="0">
                <a:solidFill>
                  <a:srgbClr val="404040"/>
                </a:solidFill>
              </a:rPr>
              <a:t>FeatureManager tree, material, dimensions, Draft &amp; Thickness Analysis, drawing</a:t>
            </a:r>
          </a:p>
        </p:txBody>
      </p:sp>
      <p:sp>
        <p:nvSpPr>
          <p:cNvPr id="12" name="Rectangle 11"/>
          <p:cNvSpPr/>
          <p:nvPr/>
        </p:nvSpPr>
        <p:spPr>
          <a:xfrm>
            <a:off x="457200" y="2468880"/>
            <a:ext cx="457200" cy="5943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514600"/>
            <a:ext cx="457200" cy="502920"/>
          </a:xfrm>
          <a:prstGeom prst="rect">
            <a:avLst/>
          </a:prstGeom>
          <a:noFill/>
        </p:spPr>
        <p:txBody>
          <a:bodyPr wrap="square">
            <a:spAutoFit/>
          </a:bodyPr>
          <a:lstStyle/>
          <a:p>
            <a:pPr algn="ctr"/>
            <a:r>
              <a:rPr sz="1800" b="1" i="0">
                <a:solidFill>
                  <a:srgbClr val="FFFFFF"/>
                </a:solidFill>
              </a:rPr>
              <a:t>2.</a:t>
            </a:r>
          </a:p>
        </p:txBody>
      </p:sp>
      <p:sp>
        <p:nvSpPr>
          <p:cNvPr id="14" name="TextBox 13"/>
          <p:cNvSpPr txBox="1"/>
          <p:nvPr/>
        </p:nvSpPr>
        <p:spPr>
          <a:xfrm>
            <a:off x="1051560" y="2468880"/>
            <a:ext cx="8686800" cy="320040"/>
          </a:xfrm>
          <a:prstGeom prst="rect">
            <a:avLst/>
          </a:prstGeom>
          <a:noFill/>
        </p:spPr>
        <p:txBody>
          <a:bodyPr wrap="square">
            <a:spAutoFit/>
          </a:bodyPr>
          <a:lstStyle/>
          <a:p>
            <a:pPr algn="l"/>
            <a:r>
              <a:rPr sz="1500" b="1" i="0">
                <a:solidFill>
                  <a:srgbClr val="1F3564"/>
                </a:solidFill>
              </a:rPr>
              <a:t>Criteria 2: FEA Analysis Practices</a:t>
            </a:r>
          </a:p>
        </p:txBody>
      </p:sp>
      <p:sp>
        <p:nvSpPr>
          <p:cNvPr id="15" name="TextBox 14"/>
          <p:cNvSpPr txBox="1"/>
          <p:nvPr/>
        </p:nvSpPr>
        <p:spPr>
          <a:xfrm>
            <a:off x="1051560" y="2788920"/>
            <a:ext cx="10332720" cy="365760"/>
          </a:xfrm>
          <a:prstGeom prst="rect">
            <a:avLst/>
          </a:prstGeom>
          <a:noFill/>
        </p:spPr>
        <p:txBody>
          <a:bodyPr wrap="square">
            <a:spAutoFit/>
          </a:bodyPr>
          <a:lstStyle/>
          <a:p>
            <a:pPr algn="l"/>
            <a:r>
              <a:rPr sz="1100" b="0" i="0">
                <a:solidFill>
                  <a:srgbClr val="404040"/>
                </a:solidFill>
              </a:rPr>
              <a:t>Symmetry, boundary conditions, mesh convergence study, stress plots</a:t>
            </a:r>
          </a:p>
        </p:txBody>
      </p:sp>
      <p:sp>
        <p:nvSpPr>
          <p:cNvPr id="16" name="Rectangle 15"/>
          <p:cNvSpPr/>
          <p:nvPr/>
        </p:nvSpPr>
        <p:spPr>
          <a:xfrm>
            <a:off x="457200" y="3566160"/>
            <a:ext cx="457200" cy="5943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611879"/>
            <a:ext cx="457200" cy="502920"/>
          </a:xfrm>
          <a:prstGeom prst="rect">
            <a:avLst/>
          </a:prstGeom>
          <a:noFill/>
        </p:spPr>
        <p:txBody>
          <a:bodyPr wrap="square">
            <a:spAutoFit/>
          </a:bodyPr>
          <a:lstStyle/>
          <a:p>
            <a:pPr algn="ctr"/>
            <a:r>
              <a:rPr sz="1800" b="1" i="0">
                <a:solidFill>
                  <a:srgbClr val="FFFFFF"/>
                </a:solidFill>
              </a:rPr>
              <a:t>3.</a:t>
            </a:r>
          </a:p>
        </p:txBody>
      </p:sp>
      <p:sp>
        <p:nvSpPr>
          <p:cNvPr id="18" name="TextBox 17"/>
          <p:cNvSpPr txBox="1"/>
          <p:nvPr/>
        </p:nvSpPr>
        <p:spPr>
          <a:xfrm>
            <a:off x="1051560" y="3566160"/>
            <a:ext cx="8686800" cy="320040"/>
          </a:xfrm>
          <a:prstGeom prst="rect">
            <a:avLst/>
          </a:prstGeom>
          <a:noFill/>
        </p:spPr>
        <p:txBody>
          <a:bodyPr wrap="square">
            <a:spAutoFit/>
          </a:bodyPr>
          <a:lstStyle/>
          <a:p>
            <a:pPr algn="l"/>
            <a:r>
              <a:rPr sz="1500" b="1" i="0">
                <a:solidFill>
                  <a:srgbClr val="1F3564"/>
                </a:solidFill>
              </a:rPr>
              <a:t>Convergence Results &amp; Safety Assessment</a:t>
            </a:r>
          </a:p>
        </p:txBody>
      </p:sp>
      <p:sp>
        <p:nvSpPr>
          <p:cNvPr id="19" name="TextBox 18"/>
          <p:cNvSpPr txBox="1"/>
          <p:nvPr/>
        </p:nvSpPr>
        <p:spPr>
          <a:xfrm>
            <a:off x="1051560" y="3886200"/>
            <a:ext cx="10332720" cy="365760"/>
          </a:xfrm>
          <a:prstGeom prst="rect">
            <a:avLst/>
          </a:prstGeom>
          <a:noFill/>
        </p:spPr>
        <p:txBody>
          <a:bodyPr wrap="square">
            <a:spAutoFit/>
          </a:bodyPr>
          <a:lstStyle/>
          <a:p>
            <a:pPr algn="l"/>
            <a:r>
              <a:rPr sz="1100" b="0" i="0">
                <a:solidFill>
                  <a:srgbClr val="404040"/>
                </a:solidFill>
              </a:rPr>
              <a:t>Table, graph, Factor of Safety conclusion</a:t>
            </a:r>
          </a:p>
        </p:txBody>
      </p:sp>
      <p:sp>
        <p:nvSpPr>
          <p:cNvPr id="20" name="Rectangle 19"/>
          <p:cNvSpPr/>
          <p:nvPr/>
        </p:nvSpPr>
        <p:spPr>
          <a:xfrm>
            <a:off x="457200" y="4663440"/>
            <a:ext cx="457200" cy="5943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709159"/>
            <a:ext cx="457200" cy="502920"/>
          </a:xfrm>
          <a:prstGeom prst="rect">
            <a:avLst/>
          </a:prstGeom>
          <a:noFill/>
        </p:spPr>
        <p:txBody>
          <a:bodyPr wrap="square">
            <a:spAutoFit/>
          </a:bodyPr>
          <a:lstStyle/>
          <a:p>
            <a:pPr algn="ctr"/>
            <a:r>
              <a:rPr sz="1800" b="1" i="0">
                <a:solidFill>
                  <a:srgbClr val="FFFFFF"/>
                </a:solidFill>
              </a:rPr>
              <a:t>4.</a:t>
            </a:r>
          </a:p>
        </p:txBody>
      </p:sp>
      <p:sp>
        <p:nvSpPr>
          <p:cNvPr id="22" name="TextBox 21"/>
          <p:cNvSpPr txBox="1"/>
          <p:nvPr/>
        </p:nvSpPr>
        <p:spPr>
          <a:xfrm>
            <a:off x="1051560" y="4663440"/>
            <a:ext cx="8686800" cy="320040"/>
          </a:xfrm>
          <a:prstGeom prst="rect">
            <a:avLst/>
          </a:prstGeom>
          <a:noFill/>
        </p:spPr>
        <p:txBody>
          <a:bodyPr wrap="square">
            <a:spAutoFit/>
          </a:bodyPr>
          <a:lstStyle/>
          <a:p>
            <a:pPr algn="l"/>
            <a:r>
              <a:rPr sz="1500" b="1" i="0">
                <a:solidFill>
                  <a:srgbClr val="1F3564"/>
                </a:solidFill>
              </a:rPr>
              <a:t>Conclusion</a:t>
            </a:r>
          </a:p>
        </p:txBody>
      </p:sp>
      <p:sp>
        <p:nvSpPr>
          <p:cNvPr id="23" name="TextBox 22"/>
          <p:cNvSpPr txBox="1"/>
          <p:nvPr/>
        </p:nvSpPr>
        <p:spPr>
          <a:xfrm>
            <a:off x="1051560" y="4983479"/>
            <a:ext cx="10332720" cy="365760"/>
          </a:xfrm>
          <a:prstGeom prst="rect">
            <a:avLst/>
          </a:prstGeom>
          <a:noFill/>
        </p:spPr>
        <p:txBody>
          <a:bodyPr wrap="square">
            <a:spAutoFit/>
          </a:bodyPr>
          <a:lstStyle/>
          <a:p>
            <a:pPr algn="l"/>
            <a:r>
              <a:rPr sz="1100" b="0" i="0">
                <a:solidFill>
                  <a:srgbClr val="404040"/>
                </a:solidFill>
              </a:rPr>
              <a:t>Summary of compliance with Criteria 1 and Criteria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1: 3D CAD Model</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Material Specification &amp; Design Compliance</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5577840" cy="512064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577840" cy="38404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5394960" cy="329184"/>
          </a:xfrm>
          <a:prstGeom prst="rect">
            <a:avLst/>
          </a:prstGeom>
          <a:noFill/>
        </p:spPr>
        <p:txBody>
          <a:bodyPr wrap="square">
            <a:spAutoFit/>
          </a:bodyPr>
          <a:lstStyle/>
          <a:p>
            <a:pPr algn="l"/>
            <a:r>
              <a:rPr sz="1300" b="1" i="0">
                <a:solidFill>
                  <a:srgbClr val="FFFFFF"/>
                </a:solidFill>
              </a:rPr>
              <a:t>Model Specification</a:t>
            </a:r>
          </a:p>
        </p:txBody>
      </p:sp>
      <p:sp>
        <p:nvSpPr>
          <p:cNvPr id="11" name="TextBox 10"/>
          <p:cNvSpPr txBox="1"/>
          <p:nvPr/>
        </p:nvSpPr>
        <p:spPr>
          <a:xfrm>
            <a:off x="411480" y="1691640"/>
            <a:ext cx="5349240" cy="4389120"/>
          </a:xfrm>
          <a:prstGeom prst="rect">
            <a:avLst/>
          </a:prstGeom>
          <a:noFill/>
        </p:spPr>
        <p:txBody>
          <a:bodyPr wrap="square">
            <a:spAutoFit/>
          </a:bodyPr>
          <a:lstStyle/>
          <a:p>
            <a:pPr>
              <a:spcBef>
                <a:spcPts val="1000"/>
              </a:spcBef>
            </a:pPr>
            <a:r>
              <a:rPr b="1" sz="1200">
                <a:solidFill>
                  <a:srgbClr val="1F3564"/>
                </a:solidFill>
              </a:rPr>
              <a:t>Part: </a:t>
            </a:r>
            <a:r>
              <a:rPr sz="1100">
                <a:solidFill>
                  <a:srgbClr val="404040"/>
                </a:solidFill>
              </a:rPr>
              <a:t>Male Insert — Side-Release Buckle</a:t>
            </a:r>
          </a:p>
          <a:p>
            <a:pPr>
              <a:spcBef>
                <a:spcPts val="1000"/>
              </a:spcBef>
            </a:pPr>
            <a:r>
              <a:rPr b="1" sz="1200">
                <a:solidFill>
                  <a:srgbClr val="1F3564"/>
                </a:solidFill>
              </a:rPr>
              <a:t>File format: </a:t>
            </a:r>
            <a:r>
              <a:rPr sz="1100">
                <a:solidFill>
                  <a:srgbClr val="404040"/>
                </a:solidFill>
              </a:rPr>
              <a:t>SolidWorks 2022 (.sldprt)</a:t>
            </a:r>
          </a:p>
          <a:p>
            <a:pPr>
              <a:spcBef>
                <a:spcPts val="1000"/>
              </a:spcBef>
            </a:pPr>
            <a:r>
              <a:rPr b="1" sz="1200">
                <a:solidFill>
                  <a:srgbClr val="1F3564"/>
                </a:solidFill>
              </a:rPr>
              <a:t>Material: </a:t>
            </a:r>
            <a:r>
              <a:rPr sz="1100">
                <a:solidFill>
                  <a:srgbClr val="404040"/>
                </a:solidFill>
              </a:rPr>
              <a:t>PA Type 6 (from SolidWorks Material Library)</a:t>
            </a:r>
          </a:p>
          <a:p>
            <a:pPr>
              <a:spcBef>
                <a:spcPts val="1000"/>
              </a:spcBef>
            </a:pPr>
            <a:r>
              <a:rPr b="1" sz="1200">
                <a:solidFill>
                  <a:srgbClr val="1F3564"/>
                </a:solidFill>
              </a:rPr>
              <a:t>Yield strength: </a:t>
            </a:r>
            <a:r>
              <a:rPr sz="1100">
                <a:solidFill>
                  <a:srgbClr val="404040"/>
                </a:solidFill>
              </a:rPr>
              <a:t>193.6 MPa</a:t>
            </a:r>
          </a:p>
          <a:p>
            <a:pPr>
              <a:spcBef>
                <a:spcPts val="1000"/>
              </a:spcBef>
            </a:pPr>
            <a:r>
              <a:rPr b="1" sz="1200">
                <a:solidFill>
                  <a:srgbClr val="1F3564"/>
                </a:solidFill>
              </a:rPr>
              <a:t>DfM compliance: </a:t>
            </a:r>
            <a:r>
              <a:rPr sz="1100">
                <a:solidFill>
                  <a:srgbClr val="404040"/>
                </a:solidFill>
              </a:rPr>
              <a:t>No thin steel, no small plastic features, appropriate draft angles, no sharp corners, no excessive thick sections</a:t>
            </a:r>
          </a:p>
          <a:p>
            <a:pPr>
              <a:spcBef>
                <a:spcPts val="1000"/>
              </a:spcBef>
            </a:pPr>
            <a:r>
              <a:rPr b="1" sz="1200">
                <a:solidFill>
                  <a:srgbClr val="1F3564"/>
                </a:solidFill>
              </a:rPr>
              <a:t>FeatureManager Tree: </a:t>
            </a:r>
            <a:r>
              <a:rPr sz="1100">
                <a:solidFill>
                  <a:srgbClr val="404040"/>
                </a:solidFill>
              </a:rPr>
              <a:t>Full feature history retained (Boss-Extrude, Cut-Extrude, Fillet operations) — fully recreatable</a:t>
            </a:r>
          </a:p>
        </p:txBody>
      </p:sp>
      <p:sp>
        <p:nvSpPr>
          <p:cNvPr id="12" name="Rectangle 11"/>
          <p:cNvSpPr/>
          <p:nvPr/>
        </p:nvSpPr>
        <p:spPr>
          <a:xfrm>
            <a:off x="6126480" y="1143000"/>
            <a:ext cx="5788152" cy="512064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14300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61288"/>
            <a:ext cx="5605272" cy="292608"/>
          </a:xfrm>
          <a:prstGeom prst="rect">
            <a:avLst/>
          </a:prstGeom>
          <a:noFill/>
        </p:spPr>
        <p:txBody>
          <a:bodyPr wrap="square">
            <a:spAutoFit/>
          </a:bodyPr>
          <a:lstStyle/>
          <a:p>
            <a:pPr algn="l"/>
            <a:r>
              <a:rPr sz="1000" b="1" i="0">
                <a:solidFill>
                  <a:srgbClr val="FFFFFF"/>
                </a:solidFill>
              </a:rPr>
              <a:t>CAD Model View</a:t>
            </a:r>
          </a:p>
        </p:txBody>
      </p:sp>
      <p:sp>
        <p:nvSpPr>
          <p:cNvPr id="15" name="TextBox 14"/>
          <p:cNvSpPr txBox="1"/>
          <p:nvPr/>
        </p:nvSpPr>
        <p:spPr>
          <a:xfrm>
            <a:off x="6126480" y="3429000"/>
            <a:ext cx="5788152" cy="548640"/>
          </a:xfrm>
          <a:prstGeom prst="rect">
            <a:avLst/>
          </a:prstGeom>
          <a:noFill/>
        </p:spPr>
        <p:txBody>
          <a:bodyPr wrap="square">
            <a:spAutoFit/>
          </a:bodyPr>
          <a:lstStyle/>
          <a:p>
            <a:pPr algn="ctr"/>
            <a:r>
              <a:rPr sz="1100" b="0" i="1">
                <a:solidFill>
                  <a:srgbClr val="1F3564"/>
                </a:solidFill>
              </a:rPr>
              <a:t>[ Photo: FeatureManager Tree
+ Isometric View of CAD Model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1: Draft Analysis</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Proof of Sufficient Draft Angles — No Undercuts</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5577840" cy="512064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577840" cy="38404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5394960" cy="329184"/>
          </a:xfrm>
          <a:prstGeom prst="rect">
            <a:avLst/>
          </a:prstGeom>
          <a:noFill/>
        </p:spPr>
        <p:txBody>
          <a:bodyPr wrap="square">
            <a:spAutoFit/>
          </a:bodyPr>
          <a:lstStyle/>
          <a:p>
            <a:pPr algn="l"/>
            <a:r>
              <a:rPr sz="1300" b="1" i="0">
                <a:solidFill>
                  <a:srgbClr val="FFFFFF"/>
                </a:solidFill>
              </a:rPr>
              <a:t>Draft Analysis Summary</a:t>
            </a:r>
          </a:p>
        </p:txBody>
      </p:sp>
      <p:sp>
        <p:nvSpPr>
          <p:cNvPr id="11" name="TextBox 10"/>
          <p:cNvSpPr txBox="1"/>
          <p:nvPr/>
        </p:nvSpPr>
        <p:spPr>
          <a:xfrm>
            <a:off x="411480" y="1691640"/>
            <a:ext cx="5349240" cy="4389120"/>
          </a:xfrm>
          <a:prstGeom prst="rect">
            <a:avLst/>
          </a:prstGeom>
          <a:noFill/>
        </p:spPr>
        <p:txBody>
          <a:bodyPr wrap="square">
            <a:spAutoFit/>
          </a:bodyPr>
          <a:lstStyle/>
          <a:p>
            <a:pPr>
              <a:spcBef>
                <a:spcPts val="800"/>
              </a:spcBef>
            </a:pPr>
            <a:r>
              <a:rPr sz="1100">
                <a:solidFill>
                  <a:srgbClr val="404040"/>
                </a:solidFill>
              </a:rPr>
              <a:t>• Tool used: SolidWorks Evaluate &gt; Draft Analysis</a:t>
            </a:r>
          </a:p>
          <a:p>
            <a:pPr>
              <a:spcBef>
                <a:spcPts val="800"/>
              </a:spcBef>
            </a:pPr>
            <a:r>
              <a:rPr sz="1100">
                <a:solidFill>
                  <a:srgbClr val="404040"/>
                </a:solidFill>
              </a:rPr>
              <a:t>• Pull direction set normal to the parting plane (top face)</a:t>
            </a:r>
          </a:p>
          <a:p>
            <a:pPr>
              <a:spcBef>
                <a:spcPts val="800"/>
              </a:spcBef>
            </a:pPr>
            <a:r>
              <a:rPr sz="1100">
                <a:solidFill>
                  <a:srgbClr val="404040"/>
                </a:solidFill>
              </a:rPr>
              <a:t>• Required draft angle: 1° minimum (industry standard for PA6)</a:t>
            </a:r>
          </a:p>
          <a:p>
            <a:pPr>
              <a:spcBef>
                <a:spcPts val="800"/>
              </a:spcBef>
            </a:pPr>
            <a:r>
              <a:rPr sz="1100">
                <a:solidFill>
                  <a:srgbClr val="404040"/>
                </a:solidFill>
              </a:rPr>
              <a:t>• Green = sufficient draft  |  Yellow = positive but below minimum  |  Red = negative draft / undercut</a:t>
            </a:r>
          </a:p>
          <a:p>
            <a:pPr>
              <a:spcBef>
                <a:spcPts val="800"/>
              </a:spcBef>
            </a:pPr>
            <a:r>
              <a:rPr sz="1100">
                <a:solidFill>
                  <a:srgbClr val="404040"/>
                </a:solidFill>
              </a:rPr>
              <a:t>• Result: All vertical faces returned GREEN — no undercuts or negative draft detected</a:t>
            </a:r>
          </a:p>
          <a:p>
            <a:pPr>
              <a:spcBef>
                <a:spcPts val="800"/>
              </a:spcBef>
            </a:pPr>
            <a:r>
              <a:rPr sz="1100">
                <a:solidFill>
                  <a:srgbClr val="404040"/>
                </a:solidFill>
              </a:rPr>
              <a:t>• Confirms part will eject cleanly from a two-plate injection mould</a:t>
            </a:r>
          </a:p>
        </p:txBody>
      </p:sp>
      <p:sp>
        <p:nvSpPr>
          <p:cNvPr id="12" name="Rectangle 11"/>
          <p:cNvSpPr/>
          <p:nvPr/>
        </p:nvSpPr>
        <p:spPr>
          <a:xfrm>
            <a:off x="6126480" y="1143000"/>
            <a:ext cx="5788152" cy="512064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14300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61288"/>
            <a:ext cx="5605272" cy="292608"/>
          </a:xfrm>
          <a:prstGeom prst="rect">
            <a:avLst/>
          </a:prstGeom>
          <a:noFill/>
        </p:spPr>
        <p:txBody>
          <a:bodyPr wrap="square">
            <a:spAutoFit/>
          </a:bodyPr>
          <a:lstStyle/>
          <a:p>
            <a:pPr algn="l"/>
            <a:r>
              <a:rPr sz="1000" b="1" i="0">
                <a:solidFill>
                  <a:srgbClr val="FFFFFF"/>
                </a:solidFill>
              </a:rPr>
              <a:t>Draft Analysis View</a:t>
            </a:r>
          </a:p>
        </p:txBody>
      </p:sp>
      <p:sp>
        <p:nvSpPr>
          <p:cNvPr id="15" name="TextBox 14"/>
          <p:cNvSpPr txBox="1"/>
          <p:nvPr/>
        </p:nvSpPr>
        <p:spPr>
          <a:xfrm>
            <a:off x="6126480" y="3429000"/>
            <a:ext cx="5788152" cy="548640"/>
          </a:xfrm>
          <a:prstGeom prst="rect">
            <a:avLst/>
          </a:prstGeom>
          <a:noFill/>
        </p:spPr>
        <p:txBody>
          <a:bodyPr wrap="square">
            <a:spAutoFit/>
          </a:bodyPr>
          <a:lstStyle/>
          <a:p>
            <a:pPr algn="ctr"/>
            <a:r>
              <a:rPr sz="1100" b="0" i="1">
                <a:solidFill>
                  <a:srgbClr val="1F3564"/>
                </a:solidFill>
              </a:rPr>
              <a:t>[ Photo: Draft Analysis Result
(colour-coded model)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1: Thickness Analysis</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Proof of No Excessive Thick Sections</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5577840" cy="512064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577840" cy="38404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5394960" cy="329184"/>
          </a:xfrm>
          <a:prstGeom prst="rect">
            <a:avLst/>
          </a:prstGeom>
          <a:noFill/>
        </p:spPr>
        <p:txBody>
          <a:bodyPr wrap="square">
            <a:spAutoFit/>
          </a:bodyPr>
          <a:lstStyle/>
          <a:p>
            <a:pPr algn="l"/>
            <a:r>
              <a:rPr sz="1300" b="1" i="0">
                <a:solidFill>
                  <a:srgbClr val="FFFFFF"/>
                </a:solidFill>
              </a:rPr>
              <a:t>Thickness Analysis Summary</a:t>
            </a:r>
          </a:p>
        </p:txBody>
      </p:sp>
      <p:sp>
        <p:nvSpPr>
          <p:cNvPr id="11" name="TextBox 10"/>
          <p:cNvSpPr txBox="1"/>
          <p:nvPr/>
        </p:nvSpPr>
        <p:spPr>
          <a:xfrm>
            <a:off x="411480" y="1691640"/>
            <a:ext cx="5349240" cy="4389120"/>
          </a:xfrm>
          <a:prstGeom prst="rect">
            <a:avLst/>
          </a:prstGeom>
          <a:noFill/>
        </p:spPr>
        <p:txBody>
          <a:bodyPr wrap="square">
            <a:spAutoFit/>
          </a:bodyPr>
          <a:lstStyle/>
          <a:p>
            <a:pPr>
              <a:spcBef>
                <a:spcPts val="800"/>
              </a:spcBef>
            </a:pPr>
            <a:r>
              <a:rPr sz="1100">
                <a:solidFill>
                  <a:srgbClr val="404040"/>
                </a:solidFill>
              </a:rPr>
              <a:t>• Tool used: SolidWorks Evaluate &gt; Thickness Analysis</a:t>
            </a:r>
          </a:p>
          <a:p>
            <a:pPr>
              <a:spcBef>
                <a:spcPts val="800"/>
              </a:spcBef>
            </a:pPr>
            <a:r>
              <a:rPr sz="1100">
                <a:solidFill>
                  <a:srgbClr val="404040"/>
                </a:solidFill>
              </a:rPr>
              <a:t>• Target wall thickness range: 1.5 mm - 3.0 mm (PA6 recommended range)</a:t>
            </a:r>
          </a:p>
          <a:p>
            <a:pPr>
              <a:spcBef>
                <a:spcPts val="800"/>
              </a:spcBef>
            </a:pPr>
            <a:r>
              <a:rPr sz="1100">
                <a:solidFill>
                  <a:srgbClr val="404040"/>
                </a:solidFill>
              </a:rPr>
              <a:t>• Analysis mode: Show thickness ranges with colour mapping</a:t>
            </a:r>
          </a:p>
          <a:p>
            <a:pPr>
              <a:spcBef>
                <a:spcPts val="800"/>
              </a:spcBef>
            </a:pPr>
            <a:r>
              <a:rPr sz="1100">
                <a:solidFill>
                  <a:srgbClr val="404040"/>
                </a:solidFill>
              </a:rPr>
              <a:t>• Result: Body wall thickness consistently within 2.0-2.5 mm</a:t>
            </a:r>
          </a:p>
          <a:p>
            <a:pPr>
              <a:spcBef>
                <a:spcPts val="800"/>
              </a:spcBef>
            </a:pPr>
            <a:r>
              <a:rPr sz="1100">
                <a:solidFill>
                  <a:srgbClr val="404040"/>
                </a:solidFill>
              </a:rPr>
              <a:t>• No thick sections (&gt;3.5 mm) flagged — coring/ribbing strategy avoided sink marks</a:t>
            </a:r>
          </a:p>
          <a:p>
            <a:pPr>
              <a:spcBef>
                <a:spcPts val="800"/>
              </a:spcBef>
            </a:pPr>
            <a:r>
              <a:rPr sz="1100">
                <a:solidFill>
                  <a:srgbClr val="404040"/>
                </a:solidFill>
              </a:rPr>
              <a:t>• Confirms uniform cooling and minimal warpage risk</a:t>
            </a:r>
          </a:p>
        </p:txBody>
      </p:sp>
      <p:sp>
        <p:nvSpPr>
          <p:cNvPr id="12" name="Rectangle 11"/>
          <p:cNvSpPr/>
          <p:nvPr/>
        </p:nvSpPr>
        <p:spPr>
          <a:xfrm>
            <a:off x="6126480" y="1143000"/>
            <a:ext cx="5788152" cy="512064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14300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61288"/>
            <a:ext cx="5605272" cy="292608"/>
          </a:xfrm>
          <a:prstGeom prst="rect">
            <a:avLst/>
          </a:prstGeom>
          <a:noFill/>
        </p:spPr>
        <p:txBody>
          <a:bodyPr wrap="square">
            <a:spAutoFit/>
          </a:bodyPr>
          <a:lstStyle/>
          <a:p>
            <a:pPr algn="l"/>
            <a:r>
              <a:rPr sz="1000" b="1" i="0">
                <a:solidFill>
                  <a:srgbClr val="FFFFFF"/>
                </a:solidFill>
              </a:rPr>
              <a:t>Thickness Analysis View</a:t>
            </a:r>
          </a:p>
        </p:txBody>
      </p:sp>
      <p:sp>
        <p:nvSpPr>
          <p:cNvPr id="15" name="TextBox 14"/>
          <p:cNvSpPr txBox="1"/>
          <p:nvPr/>
        </p:nvSpPr>
        <p:spPr>
          <a:xfrm>
            <a:off x="6126480" y="3429000"/>
            <a:ext cx="5788152" cy="548640"/>
          </a:xfrm>
          <a:prstGeom prst="rect">
            <a:avLst/>
          </a:prstGeom>
          <a:noFill/>
        </p:spPr>
        <p:txBody>
          <a:bodyPr wrap="square">
            <a:spAutoFit/>
          </a:bodyPr>
          <a:lstStyle/>
          <a:p>
            <a:pPr algn="ctr"/>
            <a:r>
              <a:rPr sz="1100" b="0" i="1">
                <a:solidFill>
                  <a:srgbClr val="1F3564"/>
                </a:solidFill>
              </a:rPr>
              <a:t>[ Photo: Thickness Analysis Result
(colour-coded model)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1: Engineering Drawing (slddrw)</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Dimensional Proof &amp; DfM Compliance</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5577840" cy="512064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577840" cy="38404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5394960" cy="329184"/>
          </a:xfrm>
          <a:prstGeom prst="rect">
            <a:avLst/>
          </a:prstGeom>
          <a:noFill/>
        </p:spPr>
        <p:txBody>
          <a:bodyPr wrap="square">
            <a:spAutoFit/>
          </a:bodyPr>
          <a:lstStyle/>
          <a:p>
            <a:pPr algn="l"/>
            <a:r>
              <a:rPr sz="1300" b="1" i="0">
                <a:solidFill>
                  <a:srgbClr val="FFFFFF"/>
                </a:solidFill>
              </a:rPr>
              <a:t>Drawing Contents</a:t>
            </a:r>
          </a:p>
        </p:txBody>
      </p:sp>
      <p:sp>
        <p:nvSpPr>
          <p:cNvPr id="11" name="TextBox 10"/>
          <p:cNvSpPr txBox="1"/>
          <p:nvPr/>
        </p:nvSpPr>
        <p:spPr>
          <a:xfrm>
            <a:off x="411480" y="1691640"/>
            <a:ext cx="5349240" cy="4389120"/>
          </a:xfrm>
          <a:prstGeom prst="rect">
            <a:avLst/>
          </a:prstGeom>
          <a:noFill/>
        </p:spPr>
        <p:txBody>
          <a:bodyPr wrap="square">
            <a:spAutoFit/>
          </a:bodyPr>
          <a:lstStyle/>
          <a:p>
            <a:pPr>
              <a:spcBef>
                <a:spcPts val="800"/>
              </a:spcBef>
            </a:pPr>
            <a:r>
              <a:rPr sz="1100">
                <a:solidFill>
                  <a:srgbClr val="404040"/>
                </a:solidFill>
              </a:rPr>
              <a:t>• File format: SolidWorks 2022 (.slddrw), linked to the .sldprt model</a:t>
            </a:r>
          </a:p>
          <a:p>
            <a:pPr>
              <a:spcBef>
                <a:spcPts val="800"/>
              </a:spcBef>
            </a:pPr>
            <a:r>
              <a:rPr sz="1100">
                <a:solidFill>
                  <a:srgbClr val="404040"/>
                </a:solidFill>
              </a:rPr>
              <a:t>• Standard orthographic views: Front, Top, Right, Isometric</a:t>
            </a:r>
          </a:p>
          <a:p>
            <a:pPr>
              <a:spcBef>
                <a:spcPts val="800"/>
              </a:spcBef>
            </a:pPr>
            <a:r>
              <a:rPr sz="1100">
                <a:solidFill>
                  <a:srgbClr val="404040"/>
                </a:solidFill>
              </a:rPr>
              <a:t>• Section view: through the snap hook and strap bar to verify internal wall thickness</a:t>
            </a:r>
          </a:p>
          <a:p>
            <a:pPr>
              <a:spcBef>
                <a:spcPts val="800"/>
              </a:spcBef>
            </a:pPr>
            <a:r>
              <a:rPr sz="1100">
                <a:solidFill>
                  <a:srgbClr val="404040"/>
                </a:solidFill>
              </a:rPr>
              <a:t>• Detail view: zoomed on the snap hook fillet region</a:t>
            </a:r>
          </a:p>
          <a:p>
            <a:pPr>
              <a:spcBef>
                <a:spcPts val="800"/>
              </a:spcBef>
            </a:pPr>
            <a:r>
              <a:rPr sz="1100">
                <a:solidFill>
                  <a:srgbClr val="404040"/>
                </a:solidFill>
              </a:rPr>
              <a:t>• Full dimensioning of all critical features — wall thickness, draft angle, fillet radius (3 mm), hook engagement depth</a:t>
            </a:r>
          </a:p>
          <a:p>
            <a:pPr>
              <a:spcBef>
                <a:spcPts val="800"/>
              </a:spcBef>
            </a:pPr>
            <a:r>
              <a:rPr sz="1100">
                <a:solidFill>
                  <a:srgbClr val="404040"/>
                </a:solidFill>
              </a:rPr>
              <a:t>• Drawing confirms all dimensions meet design specification and no DfM issues exist</a:t>
            </a:r>
          </a:p>
        </p:txBody>
      </p:sp>
      <p:sp>
        <p:nvSpPr>
          <p:cNvPr id="12" name="Rectangle 11"/>
          <p:cNvSpPr/>
          <p:nvPr/>
        </p:nvSpPr>
        <p:spPr>
          <a:xfrm>
            <a:off x="6126480" y="1143000"/>
            <a:ext cx="5788152" cy="512064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14300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61288"/>
            <a:ext cx="5605272" cy="292608"/>
          </a:xfrm>
          <a:prstGeom prst="rect">
            <a:avLst/>
          </a:prstGeom>
          <a:noFill/>
        </p:spPr>
        <p:txBody>
          <a:bodyPr wrap="square">
            <a:spAutoFit/>
          </a:bodyPr>
          <a:lstStyle/>
          <a:p>
            <a:pPr algn="l"/>
            <a:r>
              <a:rPr sz="1000" b="1" i="0">
                <a:solidFill>
                  <a:srgbClr val="FFFFFF"/>
                </a:solidFill>
              </a:rPr>
              <a:t>Engineering Drawing</a:t>
            </a:r>
          </a:p>
        </p:txBody>
      </p:sp>
      <p:sp>
        <p:nvSpPr>
          <p:cNvPr id="15" name="TextBox 14"/>
          <p:cNvSpPr txBox="1"/>
          <p:nvPr/>
        </p:nvSpPr>
        <p:spPr>
          <a:xfrm>
            <a:off x="6126480" y="3429000"/>
            <a:ext cx="5788152" cy="548640"/>
          </a:xfrm>
          <a:prstGeom prst="rect">
            <a:avLst/>
          </a:prstGeom>
          <a:noFill/>
        </p:spPr>
        <p:txBody>
          <a:bodyPr wrap="square">
            <a:spAutoFit/>
          </a:bodyPr>
          <a:lstStyle/>
          <a:p>
            <a:pPr algn="ctr"/>
            <a:r>
              <a:rPr sz="1100" b="0" i="1">
                <a:solidFill>
                  <a:srgbClr val="1F3564"/>
                </a:solidFill>
              </a:rPr>
              <a:t>[ Photo: Drawing Sheet
(views + dimensions)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2: FEA Setup</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Boundary Conditions &amp; Simulation Configuration</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5577840" cy="512064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577840" cy="38404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5394960" cy="329184"/>
          </a:xfrm>
          <a:prstGeom prst="rect">
            <a:avLst/>
          </a:prstGeom>
          <a:noFill/>
        </p:spPr>
        <p:txBody>
          <a:bodyPr wrap="square">
            <a:spAutoFit/>
          </a:bodyPr>
          <a:lstStyle/>
          <a:p>
            <a:pPr algn="l"/>
            <a:r>
              <a:rPr sz="1300" b="1" i="0">
                <a:solidFill>
                  <a:srgbClr val="FFFFFF"/>
                </a:solidFill>
              </a:rPr>
              <a:t>Simulation Setup</a:t>
            </a:r>
          </a:p>
        </p:txBody>
      </p:sp>
      <p:sp>
        <p:nvSpPr>
          <p:cNvPr id="11" name="TextBox 10"/>
          <p:cNvSpPr txBox="1"/>
          <p:nvPr/>
        </p:nvSpPr>
        <p:spPr>
          <a:xfrm>
            <a:off x="411480" y="1691640"/>
            <a:ext cx="5349240" cy="4389120"/>
          </a:xfrm>
          <a:prstGeom prst="rect">
            <a:avLst/>
          </a:prstGeom>
          <a:noFill/>
        </p:spPr>
        <p:txBody>
          <a:bodyPr wrap="square">
            <a:spAutoFit/>
          </a:bodyPr>
          <a:lstStyle/>
          <a:p>
            <a:pPr>
              <a:spcBef>
                <a:spcPts val="800"/>
              </a:spcBef>
            </a:pPr>
            <a:r>
              <a:rPr sz="1100">
                <a:solidFill>
                  <a:srgbClr val="404040"/>
                </a:solidFill>
              </a:rPr>
              <a:t>• Study type: Static Analysis</a:t>
            </a:r>
          </a:p>
          <a:p>
            <a:pPr>
              <a:spcBef>
                <a:spcPts val="800"/>
              </a:spcBef>
            </a:pPr>
            <a:r>
              <a:rPr sz="1100">
                <a:solidFill>
                  <a:srgbClr val="404040"/>
                </a:solidFill>
              </a:rPr>
              <a:t>• Model: Half-symmetry — Symmetry restraint applied on the cut face along the plane of symmetry</a:t>
            </a:r>
          </a:p>
          <a:p>
            <a:pPr>
              <a:spcBef>
                <a:spcPts val="800"/>
              </a:spcBef>
            </a:pPr>
            <a:r>
              <a:rPr sz="1100">
                <a:solidFill>
                  <a:srgbClr val="404040"/>
                </a:solidFill>
              </a:rPr>
              <a:t>• Fixed Geometry: Applied to the bottom face of the strap bar (fixed end)</a:t>
            </a:r>
          </a:p>
          <a:p>
            <a:pPr>
              <a:spcBef>
                <a:spcPts val="800"/>
              </a:spcBef>
            </a:pPr>
            <a:r>
              <a:rPr sz="1100">
                <a:solidFill>
                  <a:srgbClr val="404040"/>
                </a:solidFill>
              </a:rPr>
              <a:t>• Load: 15 N force, Normal to the snap hook (tang) face, applied Per Item</a:t>
            </a:r>
          </a:p>
          <a:p>
            <a:pPr>
              <a:spcBef>
                <a:spcPts val="800"/>
              </a:spcBef>
            </a:pPr>
            <a:r>
              <a:rPr sz="1100">
                <a:solidFill>
                  <a:srgbClr val="404040"/>
                </a:solidFill>
              </a:rPr>
              <a:t>• Material: PA Type 6, Yield Strength = 193.6 MPa</a:t>
            </a:r>
          </a:p>
          <a:p>
            <a:pPr>
              <a:spcBef>
                <a:spcPts val="800"/>
              </a:spcBef>
            </a:pPr>
            <a:r>
              <a:rPr sz="1100">
                <a:solidFill>
                  <a:srgbClr val="404040"/>
                </a:solidFill>
              </a:rPr>
              <a:t>• Mesh type: Blended curvature-based mesh</a:t>
            </a:r>
          </a:p>
        </p:txBody>
      </p:sp>
      <p:sp>
        <p:nvSpPr>
          <p:cNvPr id="12" name="Rectangle 11"/>
          <p:cNvSpPr/>
          <p:nvPr/>
        </p:nvSpPr>
        <p:spPr>
          <a:xfrm>
            <a:off x="6126480" y="1143000"/>
            <a:ext cx="5788152" cy="512064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14300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61288"/>
            <a:ext cx="5605272" cy="292608"/>
          </a:xfrm>
          <a:prstGeom prst="rect">
            <a:avLst/>
          </a:prstGeom>
          <a:noFill/>
        </p:spPr>
        <p:txBody>
          <a:bodyPr wrap="square">
            <a:spAutoFit/>
          </a:bodyPr>
          <a:lstStyle/>
          <a:p>
            <a:pPr algn="l"/>
            <a:r>
              <a:rPr sz="1000" b="1" i="0">
                <a:solidFill>
                  <a:srgbClr val="FFFFFF"/>
                </a:solidFill>
              </a:rPr>
              <a:t>Boundary Conditions</a:t>
            </a:r>
          </a:p>
        </p:txBody>
      </p:sp>
      <p:sp>
        <p:nvSpPr>
          <p:cNvPr id="15" name="TextBox 14"/>
          <p:cNvSpPr txBox="1"/>
          <p:nvPr/>
        </p:nvSpPr>
        <p:spPr>
          <a:xfrm>
            <a:off x="6126480" y="3429000"/>
            <a:ext cx="5788152" cy="548640"/>
          </a:xfrm>
          <a:prstGeom prst="rect">
            <a:avLst/>
          </a:prstGeom>
          <a:noFill/>
        </p:spPr>
        <p:txBody>
          <a:bodyPr wrap="square">
            <a:spAutoFit/>
          </a:bodyPr>
          <a:lstStyle/>
          <a:p>
            <a:pPr algn="ctr"/>
            <a:r>
              <a:rPr sz="1100" b="0" i="1">
                <a:solidFill>
                  <a:srgbClr val="1F3564"/>
                </a:solidFill>
              </a:rPr>
              <a:t>[ Photo: Simulation Tree showing
Symmetry-1, Fixed-1, Force-1 ]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2: Static 1 — Mesh &amp; Stress Plot</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Global mesh: 2 mm max / 1 mm min</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5577840" cy="512064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577840" cy="38404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5394960" cy="329184"/>
          </a:xfrm>
          <a:prstGeom prst="rect">
            <a:avLst/>
          </a:prstGeom>
          <a:noFill/>
        </p:spPr>
        <p:txBody>
          <a:bodyPr wrap="square">
            <a:spAutoFit/>
          </a:bodyPr>
          <a:lstStyle/>
          <a:p>
            <a:pPr algn="l"/>
            <a:r>
              <a:rPr sz="1300" b="1" i="0">
                <a:solidFill>
                  <a:srgbClr val="FFFFFF"/>
                </a:solidFill>
              </a:rPr>
              <a:t>Mesh Details</a:t>
            </a:r>
          </a:p>
        </p:txBody>
      </p:sp>
      <p:sp>
        <p:nvSpPr>
          <p:cNvPr id="11" name="TextBox 10"/>
          <p:cNvSpPr txBox="1"/>
          <p:nvPr/>
        </p:nvSpPr>
        <p:spPr>
          <a:xfrm>
            <a:off x="411480" y="1737360"/>
            <a:ext cx="5349240" cy="1828800"/>
          </a:xfrm>
          <a:prstGeom prst="rect">
            <a:avLst/>
          </a:prstGeom>
          <a:noFill/>
        </p:spPr>
        <p:txBody>
          <a:bodyPr wrap="square">
            <a:spAutoFit/>
          </a:bodyPr>
          <a:lstStyle/>
          <a:p>
            <a:pPr>
              <a:spcBef>
                <a:spcPts val="600"/>
              </a:spcBef>
            </a:pPr>
            <a:r>
              <a:rPr b="1" sz="1200">
                <a:solidFill>
                  <a:srgbClr val="1F3564"/>
                </a:solidFill>
              </a:rPr>
              <a:t>Total Elements: </a:t>
            </a:r>
            <a:r>
              <a:rPr sz="1200" i="1">
                <a:solidFill>
                  <a:srgbClr val="ED7D31"/>
                </a:solidFill>
              </a:rPr>
              <a:t>[ INSERT FROM MESH DETAILS ]</a:t>
            </a:r>
          </a:p>
          <a:p>
            <a:pPr>
              <a:spcBef>
                <a:spcPts val="1000"/>
              </a:spcBef>
            </a:pPr>
            <a:r>
              <a:rPr b="1" sz="1200">
                <a:solidFill>
                  <a:srgbClr val="1F3564"/>
                </a:solidFill>
              </a:rPr>
              <a:t>Max Von Mises Stress: </a:t>
            </a:r>
            <a:r>
              <a:rPr sz="1200" i="1">
                <a:solidFill>
                  <a:srgbClr val="ED7D31"/>
                </a:solidFill>
              </a:rPr>
              <a:t>[ INSERT — same node/location as other studies ]</a:t>
            </a:r>
          </a:p>
          <a:p>
            <a:pPr>
              <a:spcBef>
                <a:spcPts val="1400"/>
              </a:spcBef>
            </a:pPr>
            <a:r>
              <a:rPr sz="1000">
                <a:solidFill>
                  <a:srgbClr val="404040"/>
                </a:solidFill>
              </a:rPr>
              <a:t>Baseline mesh — note blotchy stress contour, indicating insufficient mesh density at the fillet</a:t>
            </a:r>
          </a:p>
        </p:txBody>
      </p:sp>
      <p:sp>
        <p:nvSpPr>
          <p:cNvPr id="12" name="Rectangle 11"/>
          <p:cNvSpPr/>
          <p:nvPr/>
        </p:nvSpPr>
        <p:spPr>
          <a:xfrm>
            <a:off x="6126480" y="1143000"/>
            <a:ext cx="5788152" cy="242316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14300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61288"/>
            <a:ext cx="5605272" cy="292608"/>
          </a:xfrm>
          <a:prstGeom prst="rect">
            <a:avLst/>
          </a:prstGeom>
          <a:noFill/>
        </p:spPr>
        <p:txBody>
          <a:bodyPr wrap="square">
            <a:spAutoFit/>
          </a:bodyPr>
          <a:lstStyle/>
          <a:p>
            <a:pPr algn="l"/>
            <a:r>
              <a:rPr sz="1000" b="1" i="0">
                <a:solidFill>
                  <a:srgbClr val="FFFFFF"/>
                </a:solidFill>
              </a:rPr>
              <a:t>Mesh Plot</a:t>
            </a:r>
          </a:p>
        </p:txBody>
      </p:sp>
      <p:sp>
        <p:nvSpPr>
          <p:cNvPr id="15" name="TextBox 14"/>
          <p:cNvSpPr txBox="1"/>
          <p:nvPr/>
        </p:nvSpPr>
        <p:spPr>
          <a:xfrm>
            <a:off x="6126480" y="2080260"/>
            <a:ext cx="5788152" cy="548640"/>
          </a:xfrm>
          <a:prstGeom prst="rect">
            <a:avLst/>
          </a:prstGeom>
          <a:noFill/>
        </p:spPr>
        <p:txBody>
          <a:bodyPr wrap="square">
            <a:spAutoFit/>
          </a:bodyPr>
          <a:lstStyle/>
          <a:p>
            <a:pPr algn="ctr"/>
            <a:r>
              <a:rPr sz="1100" b="0" i="1">
                <a:solidFill>
                  <a:srgbClr val="1F3564"/>
                </a:solidFill>
              </a:rPr>
              <a:t>[ Photo: Static 1 Mesh Plot
(showing local refinement) ]</a:t>
            </a:r>
          </a:p>
        </p:txBody>
      </p:sp>
      <p:sp>
        <p:nvSpPr>
          <p:cNvPr id="16" name="Rectangle 15"/>
          <p:cNvSpPr/>
          <p:nvPr/>
        </p:nvSpPr>
        <p:spPr>
          <a:xfrm>
            <a:off x="6126480" y="3703320"/>
            <a:ext cx="5788152" cy="256032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370332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3721607"/>
            <a:ext cx="5605272" cy="292608"/>
          </a:xfrm>
          <a:prstGeom prst="rect">
            <a:avLst/>
          </a:prstGeom>
          <a:noFill/>
        </p:spPr>
        <p:txBody>
          <a:bodyPr wrap="square">
            <a:spAutoFit/>
          </a:bodyPr>
          <a:lstStyle/>
          <a:p>
            <a:pPr algn="l"/>
            <a:r>
              <a:rPr sz="1000" b="1" i="0">
                <a:solidFill>
                  <a:srgbClr val="FFFFFF"/>
                </a:solidFill>
              </a:rPr>
              <a:t>Von Mises Stress Plot</a:t>
            </a:r>
          </a:p>
        </p:txBody>
      </p:sp>
      <p:sp>
        <p:nvSpPr>
          <p:cNvPr id="19" name="TextBox 18"/>
          <p:cNvSpPr txBox="1"/>
          <p:nvPr/>
        </p:nvSpPr>
        <p:spPr>
          <a:xfrm>
            <a:off x="6126480" y="4709159"/>
            <a:ext cx="5788152" cy="548640"/>
          </a:xfrm>
          <a:prstGeom prst="rect">
            <a:avLst/>
          </a:prstGeom>
          <a:noFill/>
        </p:spPr>
        <p:txBody>
          <a:bodyPr wrap="square">
            <a:spAutoFit/>
          </a:bodyPr>
          <a:lstStyle/>
          <a:p>
            <a:pPr algn="ctr"/>
            <a:r>
              <a:rPr sz="1100" b="0" i="1">
                <a:solidFill>
                  <a:srgbClr val="1F3564"/>
                </a:solidFill>
              </a:rPr>
              <a:t>[ Photo: Static 1 Stress Plot
(probe at fillet, same location)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2: Static 2 — Mesh &amp; Stress Plot</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Local mesh control: 0.5 mm max / 0.25 mm min</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5577840" cy="512064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577840" cy="38404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5394960" cy="329184"/>
          </a:xfrm>
          <a:prstGeom prst="rect">
            <a:avLst/>
          </a:prstGeom>
          <a:noFill/>
        </p:spPr>
        <p:txBody>
          <a:bodyPr wrap="square">
            <a:spAutoFit/>
          </a:bodyPr>
          <a:lstStyle/>
          <a:p>
            <a:pPr algn="l"/>
            <a:r>
              <a:rPr sz="1300" b="1" i="0">
                <a:solidFill>
                  <a:srgbClr val="FFFFFF"/>
                </a:solidFill>
              </a:rPr>
              <a:t>Mesh Details</a:t>
            </a:r>
          </a:p>
        </p:txBody>
      </p:sp>
      <p:sp>
        <p:nvSpPr>
          <p:cNvPr id="11" name="TextBox 10"/>
          <p:cNvSpPr txBox="1"/>
          <p:nvPr/>
        </p:nvSpPr>
        <p:spPr>
          <a:xfrm>
            <a:off x="411480" y="1737360"/>
            <a:ext cx="5349240" cy="1828800"/>
          </a:xfrm>
          <a:prstGeom prst="rect">
            <a:avLst/>
          </a:prstGeom>
          <a:noFill/>
        </p:spPr>
        <p:txBody>
          <a:bodyPr wrap="square">
            <a:spAutoFit/>
          </a:bodyPr>
          <a:lstStyle/>
          <a:p>
            <a:pPr>
              <a:spcBef>
                <a:spcPts val="600"/>
              </a:spcBef>
            </a:pPr>
            <a:r>
              <a:rPr b="1" sz="1200">
                <a:solidFill>
                  <a:srgbClr val="1F3564"/>
                </a:solidFill>
              </a:rPr>
              <a:t>Total Elements: </a:t>
            </a:r>
            <a:r>
              <a:rPr sz="1200" i="1">
                <a:solidFill>
                  <a:srgbClr val="ED7D31"/>
                </a:solidFill>
              </a:rPr>
              <a:t>[ INSERT FROM MESH DETAILS ]</a:t>
            </a:r>
          </a:p>
          <a:p>
            <a:pPr>
              <a:spcBef>
                <a:spcPts val="1000"/>
              </a:spcBef>
            </a:pPr>
            <a:r>
              <a:rPr b="1" sz="1200">
                <a:solidFill>
                  <a:srgbClr val="1F3564"/>
                </a:solidFill>
              </a:rPr>
              <a:t>Max Von Mises Stress: </a:t>
            </a:r>
            <a:r>
              <a:rPr sz="1200" i="1">
                <a:solidFill>
                  <a:srgbClr val="ED7D31"/>
                </a:solidFill>
              </a:rPr>
              <a:t>[ INSERT — same node/location as other studies ]</a:t>
            </a:r>
          </a:p>
          <a:p>
            <a:pPr>
              <a:spcBef>
                <a:spcPts val="1400"/>
              </a:spcBef>
            </a:pPr>
            <a:r>
              <a:rPr sz="1000">
                <a:solidFill>
                  <a:srgbClr val="404040"/>
                </a:solidFill>
              </a:rPr>
              <a:t>First refinement at the high-stress fillet region — contour begins to smooth</a:t>
            </a:r>
          </a:p>
        </p:txBody>
      </p:sp>
      <p:sp>
        <p:nvSpPr>
          <p:cNvPr id="12" name="Rectangle 11"/>
          <p:cNvSpPr/>
          <p:nvPr/>
        </p:nvSpPr>
        <p:spPr>
          <a:xfrm>
            <a:off x="6126480" y="1143000"/>
            <a:ext cx="5788152" cy="242316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14300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61288"/>
            <a:ext cx="5605272" cy="292608"/>
          </a:xfrm>
          <a:prstGeom prst="rect">
            <a:avLst/>
          </a:prstGeom>
          <a:noFill/>
        </p:spPr>
        <p:txBody>
          <a:bodyPr wrap="square">
            <a:spAutoFit/>
          </a:bodyPr>
          <a:lstStyle/>
          <a:p>
            <a:pPr algn="l"/>
            <a:r>
              <a:rPr sz="1000" b="1" i="0">
                <a:solidFill>
                  <a:srgbClr val="FFFFFF"/>
                </a:solidFill>
              </a:rPr>
              <a:t>Mesh Plot</a:t>
            </a:r>
          </a:p>
        </p:txBody>
      </p:sp>
      <p:sp>
        <p:nvSpPr>
          <p:cNvPr id="15" name="TextBox 14"/>
          <p:cNvSpPr txBox="1"/>
          <p:nvPr/>
        </p:nvSpPr>
        <p:spPr>
          <a:xfrm>
            <a:off x="6126480" y="2080260"/>
            <a:ext cx="5788152" cy="548640"/>
          </a:xfrm>
          <a:prstGeom prst="rect">
            <a:avLst/>
          </a:prstGeom>
          <a:noFill/>
        </p:spPr>
        <p:txBody>
          <a:bodyPr wrap="square">
            <a:spAutoFit/>
          </a:bodyPr>
          <a:lstStyle/>
          <a:p>
            <a:pPr algn="ctr"/>
            <a:r>
              <a:rPr sz="1100" b="0" i="1">
                <a:solidFill>
                  <a:srgbClr val="1F3564"/>
                </a:solidFill>
              </a:rPr>
              <a:t>[ Photo: Static 2 Mesh Plot
(showing local refinement) ]</a:t>
            </a:r>
          </a:p>
        </p:txBody>
      </p:sp>
      <p:sp>
        <p:nvSpPr>
          <p:cNvPr id="16" name="Rectangle 15"/>
          <p:cNvSpPr/>
          <p:nvPr/>
        </p:nvSpPr>
        <p:spPr>
          <a:xfrm>
            <a:off x="6126480" y="3703320"/>
            <a:ext cx="5788152" cy="256032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370332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3721607"/>
            <a:ext cx="5605272" cy="292608"/>
          </a:xfrm>
          <a:prstGeom prst="rect">
            <a:avLst/>
          </a:prstGeom>
          <a:noFill/>
        </p:spPr>
        <p:txBody>
          <a:bodyPr wrap="square">
            <a:spAutoFit/>
          </a:bodyPr>
          <a:lstStyle/>
          <a:p>
            <a:pPr algn="l"/>
            <a:r>
              <a:rPr sz="1000" b="1" i="0">
                <a:solidFill>
                  <a:srgbClr val="FFFFFF"/>
                </a:solidFill>
              </a:rPr>
              <a:t>Von Mises Stress Plot</a:t>
            </a:r>
          </a:p>
        </p:txBody>
      </p:sp>
      <p:sp>
        <p:nvSpPr>
          <p:cNvPr id="19" name="TextBox 18"/>
          <p:cNvSpPr txBox="1"/>
          <p:nvPr/>
        </p:nvSpPr>
        <p:spPr>
          <a:xfrm>
            <a:off x="6126480" y="4709159"/>
            <a:ext cx="5788152" cy="548640"/>
          </a:xfrm>
          <a:prstGeom prst="rect">
            <a:avLst/>
          </a:prstGeom>
          <a:noFill/>
        </p:spPr>
        <p:txBody>
          <a:bodyPr wrap="square">
            <a:spAutoFit/>
          </a:bodyPr>
          <a:lstStyle/>
          <a:p>
            <a:pPr algn="ctr"/>
            <a:r>
              <a:rPr sz="1100" b="0" i="1">
                <a:solidFill>
                  <a:srgbClr val="1F3564"/>
                </a:solidFill>
              </a:rPr>
              <a:t>[ Photo: Static 2 Stress Plot
(probe at fillet, same location)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2: Static 3 — Mesh &amp; Stress Plot</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Local mesh control: 0.25 mm max / 0.125 mm min</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5577840" cy="512064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577840" cy="38404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5394960" cy="329184"/>
          </a:xfrm>
          <a:prstGeom prst="rect">
            <a:avLst/>
          </a:prstGeom>
          <a:noFill/>
        </p:spPr>
        <p:txBody>
          <a:bodyPr wrap="square">
            <a:spAutoFit/>
          </a:bodyPr>
          <a:lstStyle/>
          <a:p>
            <a:pPr algn="l"/>
            <a:r>
              <a:rPr sz="1300" b="1" i="0">
                <a:solidFill>
                  <a:srgbClr val="FFFFFF"/>
                </a:solidFill>
              </a:rPr>
              <a:t>Mesh Details</a:t>
            </a:r>
          </a:p>
        </p:txBody>
      </p:sp>
      <p:sp>
        <p:nvSpPr>
          <p:cNvPr id="11" name="TextBox 10"/>
          <p:cNvSpPr txBox="1"/>
          <p:nvPr/>
        </p:nvSpPr>
        <p:spPr>
          <a:xfrm>
            <a:off x="411480" y="1737360"/>
            <a:ext cx="5349240" cy="1828800"/>
          </a:xfrm>
          <a:prstGeom prst="rect">
            <a:avLst/>
          </a:prstGeom>
          <a:noFill/>
        </p:spPr>
        <p:txBody>
          <a:bodyPr wrap="square">
            <a:spAutoFit/>
          </a:bodyPr>
          <a:lstStyle/>
          <a:p>
            <a:pPr>
              <a:spcBef>
                <a:spcPts val="600"/>
              </a:spcBef>
            </a:pPr>
            <a:r>
              <a:rPr b="1" sz="1200">
                <a:solidFill>
                  <a:srgbClr val="1F3564"/>
                </a:solidFill>
              </a:rPr>
              <a:t>Total Elements: </a:t>
            </a:r>
            <a:r>
              <a:rPr sz="1200" i="1">
                <a:solidFill>
                  <a:srgbClr val="ED7D31"/>
                </a:solidFill>
              </a:rPr>
              <a:t>[ INSERT FROM MESH DETAILS ]</a:t>
            </a:r>
          </a:p>
          <a:p>
            <a:pPr>
              <a:spcBef>
                <a:spcPts val="1000"/>
              </a:spcBef>
            </a:pPr>
            <a:r>
              <a:rPr b="1" sz="1200">
                <a:solidFill>
                  <a:srgbClr val="1F3564"/>
                </a:solidFill>
              </a:rPr>
              <a:t>Max Von Mises Stress: </a:t>
            </a:r>
            <a:r>
              <a:rPr sz="1200" i="1">
                <a:solidFill>
                  <a:srgbClr val="ED7D31"/>
                </a:solidFill>
              </a:rPr>
              <a:t>[ INSERT — same node/location as other studies ]</a:t>
            </a:r>
          </a:p>
          <a:p>
            <a:pPr>
              <a:spcBef>
                <a:spcPts val="1400"/>
              </a:spcBef>
            </a:pPr>
            <a:r>
              <a:rPr sz="1000">
                <a:solidFill>
                  <a:srgbClr val="404040"/>
                </a:solidFill>
              </a:rPr>
              <a:t>Second refinement — stress contour smoother, fewer colour bands at the fillet</a:t>
            </a:r>
          </a:p>
        </p:txBody>
      </p:sp>
      <p:sp>
        <p:nvSpPr>
          <p:cNvPr id="12" name="Rectangle 11"/>
          <p:cNvSpPr/>
          <p:nvPr/>
        </p:nvSpPr>
        <p:spPr>
          <a:xfrm>
            <a:off x="6126480" y="1143000"/>
            <a:ext cx="5788152" cy="242316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14300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61288"/>
            <a:ext cx="5605272" cy="292608"/>
          </a:xfrm>
          <a:prstGeom prst="rect">
            <a:avLst/>
          </a:prstGeom>
          <a:noFill/>
        </p:spPr>
        <p:txBody>
          <a:bodyPr wrap="square">
            <a:spAutoFit/>
          </a:bodyPr>
          <a:lstStyle/>
          <a:p>
            <a:pPr algn="l"/>
            <a:r>
              <a:rPr sz="1000" b="1" i="0">
                <a:solidFill>
                  <a:srgbClr val="FFFFFF"/>
                </a:solidFill>
              </a:rPr>
              <a:t>Mesh Plot</a:t>
            </a:r>
          </a:p>
        </p:txBody>
      </p:sp>
      <p:sp>
        <p:nvSpPr>
          <p:cNvPr id="15" name="TextBox 14"/>
          <p:cNvSpPr txBox="1"/>
          <p:nvPr/>
        </p:nvSpPr>
        <p:spPr>
          <a:xfrm>
            <a:off x="6126480" y="2080260"/>
            <a:ext cx="5788152" cy="548640"/>
          </a:xfrm>
          <a:prstGeom prst="rect">
            <a:avLst/>
          </a:prstGeom>
          <a:noFill/>
        </p:spPr>
        <p:txBody>
          <a:bodyPr wrap="square">
            <a:spAutoFit/>
          </a:bodyPr>
          <a:lstStyle/>
          <a:p>
            <a:pPr algn="ctr"/>
            <a:r>
              <a:rPr sz="1100" b="0" i="1">
                <a:solidFill>
                  <a:srgbClr val="1F3564"/>
                </a:solidFill>
              </a:rPr>
              <a:t>[ Photo: Static 3 Mesh Plot
(showing local refinement) ]</a:t>
            </a:r>
          </a:p>
        </p:txBody>
      </p:sp>
      <p:sp>
        <p:nvSpPr>
          <p:cNvPr id="16" name="Rectangle 15"/>
          <p:cNvSpPr/>
          <p:nvPr/>
        </p:nvSpPr>
        <p:spPr>
          <a:xfrm>
            <a:off x="6126480" y="3703320"/>
            <a:ext cx="5788152" cy="256032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370332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3721607"/>
            <a:ext cx="5605272" cy="292608"/>
          </a:xfrm>
          <a:prstGeom prst="rect">
            <a:avLst/>
          </a:prstGeom>
          <a:noFill/>
        </p:spPr>
        <p:txBody>
          <a:bodyPr wrap="square">
            <a:spAutoFit/>
          </a:bodyPr>
          <a:lstStyle/>
          <a:p>
            <a:pPr algn="l"/>
            <a:r>
              <a:rPr sz="1000" b="1" i="0">
                <a:solidFill>
                  <a:srgbClr val="FFFFFF"/>
                </a:solidFill>
              </a:rPr>
              <a:t>Von Mises Stress Plot</a:t>
            </a:r>
          </a:p>
        </p:txBody>
      </p:sp>
      <p:sp>
        <p:nvSpPr>
          <p:cNvPr id="19" name="TextBox 18"/>
          <p:cNvSpPr txBox="1"/>
          <p:nvPr/>
        </p:nvSpPr>
        <p:spPr>
          <a:xfrm>
            <a:off x="6126480" y="4709159"/>
            <a:ext cx="5788152" cy="548640"/>
          </a:xfrm>
          <a:prstGeom prst="rect">
            <a:avLst/>
          </a:prstGeom>
          <a:noFill/>
        </p:spPr>
        <p:txBody>
          <a:bodyPr wrap="square">
            <a:spAutoFit/>
          </a:bodyPr>
          <a:lstStyle/>
          <a:p>
            <a:pPr algn="ctr"/>
            <a:r>
              <a:rPr sz="1100" b="0" i="1">
                <a:solidFill>
                  <a:srgbClr val="1F3564"/>
                </a:solidFill>
              </a:rPr>
              <a:t>[ Photo: Static 3 Stress Plot
(probe at fillet, same location)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2: Static 4 — Mesh &amp; Stress Plot</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Local mesh control: 0.125 mm max / 0.0625 mm min</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5577840" cy="512064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5577840" cy="384048"/>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5394960" cy="329184"/>
          </a:xfrm>
          <a:prstGeom prst="rect">
            <a:avLst/>
          </a:prstGeom>
          <a:noFill/>
        </p:spPr>
        <p:txBody>
          <a:bodyPr wrap="square">
            <a:spAutoFit/>
          </a:bodyPr>
          <a:lstStyle/>
          <a:p>
            <a:pPr algn="l"/>
            <a:r>
              <a:rPr sz="1300" b="1" i="0">
                <a:solidFill>
                  <a:srgbClr val="FFFFFF"/>
                </a:solidFill>
              </a:rPr>
              <a:t>Mesh Details</a:t>
            </a:r>
          </a:p>
        </p:txBody>
      </p:sp>
      <p:sp>
        <p:nvSpPr>
          <p:cNvPr id="11" name="TextBox 10"/>
          <p:cNvSpPr txBox="1"/>
          <p:nvPr/>
        </p:nvSpPr>
        <p:spPr>
          <a:xfrm>
            <a:off x="411480" y="1737360"/>
            <a:ext cx="5349240" cy="1828800"/>
          </a:xfrm>
          <a:prstGeom prst="rect">
            <a:avLst/>
          </a:prstGeom>
          <a:noFill/>
        </p:spPr>
        <p:txBody>
          <a:bodyPr wrap="square">
            <a:spAutoFit/>
          </a:bodyPr>
          <a:lstStyle/>
          <a:p>
            <a:pPr>
              <a:spcBef>
                <a:spcPts val="600"/>
              </a:spcBef>
            </a:pPr>
            <a:r>
              <a:rPr b="1" sz="1200">
                <a:solidFill>
                  <a:srgbClr val="1F3564"/>
                </a:solidFill>
              </a:rPr>
              <a:t>Total Elements: </a:t>
            </a:r>
            <a:r>
              <a:rPr sz="1200" i="1">
                <a:solidFill>
                  <a:srgbClr val="ED7D31"/>
                </a:solidFill>
              </a:rPr>
              <a:t>[ INSERT FROM MESH DETAILS ]</a:t>
            </a:r>
          </a:p>
          <a:p>
            <a:pPr>
              <a:spcBef>
                <a:spcPts val="1000"/>
              </a:spcBef>
            </a:pPr>
            <a:r>
              <a:rPr b="1" sz="1200">
                <a:solidFill>
                  <a:srgbClr val="1F3564"/>
                </a:solidFill>
              </a:rPr>
              <a:t>Max Von Mises Stress: </a:t>
            </a:r>
            <a:r>
              <a:rPr sz="1200" i="1">
                <a:solidFill>
                  <a:srgbClr val="ED7D31"/>
                </a:solidFill>
              </a:rPr>
              <a:t>[ INSERT — same node/location as other studies ]</a:t>
            </a:r>
          </a:p>
          <a:p>
            <a:pPr>
              <a:spcBef>
                <a:spcPts val="1400"/>
              </a:spcBef>
            </a:pPr>
            <a:r>
              <a:rPr sz="1000">
                <a:solidFill>
                  <a:srgbClr val="404040"/>
                </a:solidFill>
              </a:rPr>
              <a:t>Finest refinement — smooth, continuous stress contour with no blotchiness</a:t>
            </a:r>
          </a:p>
        </p:txBody>
      </p:sp>
      <p:sp>
        <p:nvSpPr>
          <p:cNvPr id="12" name="Rectangle 11"/>
          <p:cNvSpPr/>
          <p:nvPr/>
        </p:nvSpPr>
        <p:spPr>
          <a:xfrm>
            <a:off x="6126480" y="1143000"/>
            <a:ext cx="5788152" cy="242316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14300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161288"/>
            <a:ext cx="5605272" cy="292608"/>
          </a:xfrm>
          <a:prstGeom prst="rect">
            <a:avLst/>
          </a:prstGeom>
          <a:noFill/>
        </p:spPr>
        <p:txBody>
          <a:bodyPr wrap="square">
            <a:spAutoFit/>
          </a:bodyPr>
          <a:lstStyle/>
          <a:p>
            <a:pPr algn="l"/>
            <a:r>
              <a:rPr sz="1000" b="1" i="0">
                <a:solidFill>
                  <a:srgbClr val="FFFFFF"/>
                </a:solidFill>
              </a:rPr>
              <a:t>Mesh Plot</a:t>
            </a:r>
          </a:p>
        </p:txBody>
      </p:sp>
      <p:sp>
        <p:nvSpPr>
          <p:cNvPr id="15" name="TextBox 14"/>
          <p:cNvSpPr txBox="1"/>
          <p:nvPr/>
        </p:nvSpPr>
        <p:spPr>
          <a:xfrm>
            <a:off x="6126480" y="2080260"/>
            <a:ext cx="5788152" cy="548640"/>
          </a:xfrm>
          <a:prstGeom prst="rect">
            <a:avLst/>
          </a:prstGeom>
          <a:noFill/>
        </p:spPr>
        <p:txBody>
          <a:bodyPr wrap="square">
            <a:spAutoFit/>
          </a:bodyPr>
          <a:lstStyle/>
          <a:p>
            <a:pPr algn="ctr"/>
            <a:r>
              <a:rPr sz="1100" b="0" i="1">
                <a:solidFill>
                  <a:srgbClr val="1F3564"/>
                </a:solidFill>
              </a:rPr>
              <a:t>[ Photo: Static 4 Mesh Plot
(showing local refinement) ]</a:t>
            </a:r>
          </a:p>
        </p:txBody>
      </p:sp>
      <p:sp>
        <p:nvSpPr>
          <p:cNvPr id="16" name="Rectangle 15"/>
          <p:cNvSpPr/>
          <p:nvPr/>
        </p:nvSpPr>
        <p:spPr>
          <a:xfrm>
            <a:off x="6126480" y="3703320"/>
            <a:ext cx="5788152" cy="256032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3703320"/>
            <a:ext cx="57881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3721607"/>
            <a:ext cx="5605272" cy="292608"/>
          </a:xfrm>
          <a:prstGeom prst="rect">
            <a:avLst/>
          </a:prstGeom>
          <a:noFill/>
        </p:spPr>
        <p:txBody>
          <a:bodyPr wrap="square">
            <a:spAutoFit/>
          </a:bodyPr>
          <a:lstStyle/>
          <a:p>
            <a:pPr algn="l"/>
            <a:r>
              <a:rPr sz="1000" b="1" i="0">
                <a:solidFill>
                  <a:srgbClr val="FFFFFF"/>
                </a:solidFill>
              </a:rPr>
              <a:t>Von Mises Stress Plot</a:t>
            </a:r>
          </a:p>
        </p:txBody>
      </p:sp>
      <p:sp>
        <p:nvSpPr>
          <p:cNvPr id="19" name="TextBox 18"/>
          <p:cNvSpPr txBox="1"/>
          <p:nvPr/>
        </p:nvSpPr>
        <p:spPr>
          <a:xfrm>
            <a:off x="6126480" y="4709159"/>
            <a:ext cx="5788152" cy="548640"/>
          </a:xfrm>
          <a:prstGeom prst="rect">
            <a:avLst/>
          </a:prstGeom>
          <a:noFill/>
        </p:spPr>
        <p:txBody>
          <a:bodyPr wrap="square">
            <a:spAutoFit/>
          </a:bodyPr>
          <a:lstStyle/>
          <a:p>
            <a:pPr algn="ctr"/>
            <a:r>
              <a:rPr sz="1100" b="0" i="1">
                <a:solidFill>
                  <a:srgbClr val="1F3564"/>
                </a:solidFill>
              </a:rPr>
              <a:t>[ Photo: Static 4 Stress Plot
(probe at fillet, same location)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2: Mesh Convergence Table</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Stress vs. Number of Elements — Proof of ±2% Convergence</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11640312" cy="45720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88720"/>
            <a:ext cx="11430000" cy="347472"/>
          </a:xfrm>
          <a:prstGeom prst="rect">
            <a:avLst/>
          </a:prstGeom>
          <a:noFill/>
        </p:spPr>
        <p:txBody>
          <a:bodyPr wrap="square">
            <a:spAutoFit/>
          </a:bodyPr>
          <a:lstStyle/>
          <a:p>
            <a:pPr algn="l"/>
            <a:r>
              <a:rPr sz="1300" b="1" i="0">
                <a:solidFill>
                  <a:srgbClr val="FFFFFF"/>
                </a:solidFill>
              </a:rPr>
              <a:t>Convergence Table (probe location held constant across all studies)</a:t>
            </a:r>
          </a:p>
        </p:txBody>
      </p:sp>
      <p:sp>
        <p:nvSpPr>
          <p:cNvPr id="10" name="Rectangle 9"/>
          <p:cNvSpPr/>
          <p:nvPr/>
        </p:nvSpPr>
        <p:spPr>
          <a:xfrm>
            <a:off x="274320" y="1691640"/>
            <a:ext cx="1371600" cy="38404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1709928"/>
            <a:ext cx="1280160" cy="347472"/>
          </a:xfrm>
          <a:prstGeom prst="rect">
            <a:avLst/>
          </a:prstGeom>
          <a:noFill/>
        </p:spPr>
        <p:txBody>
          <a:bodyPr wrap="square">
            <a:spAutoFit/>
          </a:bodyPr>
          <a:lstStyle/>
          <a:p>
            <a:pPr algn="ctr"/>
            <a:r>
              <a:rPr sz="1000" b="1" i="0">
                <a:solidFill>
                  <a:srgbClr val="FFFFFF"/>
                </a:solidFill>
              </a:rPr>
              <a:t>Study</a:t>
            </a:r>
          </a:p>
        </p:txBody>
      </p:sp>
      <p:sp>
        <p:nvSpPr>
          <p:cNvPr id="12" name="Rectangle 11"/>
          <p:cNvSpPr/>
          <p:nvPr/>
        </p:nvSpPr>
        <p:spPr>
          <a:xfrm>
            <a:off x="1645920" y="1691640"/>
            <a:ext cx="2560320" cy="38404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91640" y="1709928"/>
            <a:ext cx="2468879" cy="347472"/>
          </a:xfrm>
          <a:prstGeom prst="rect">
            <a:avLst/>
          </a:prstGeom>
          <a:noFill/>
        </p:spPr>
        <p:txBody>
          <a:bodyPr wrap="square">
            <a:spAutoFit/>
          </a:bodyPr>
          <a:lstStyle/>
          <a:p>
            <a:pPr algn="ctr"/>
            <a:r>
              <a:rPr sz="1000" b="1" i="0">
                <a:solidFill>
                  <a:srgbClr val="FFFFFF"/>
                </a:solidFill>
              </a:rPr>
              <a:t>Mesh Control (max/min)</a:t>
            </a:r>
          </a:p>
        </p:txBody>
      </p:sp>
      <p:sp>
        <p:nvSpPr>
          <p:cNvPr id="14" name="Rectangle 13"/>
          <p:cNvSpPr/>
          <p:nvPr/>
        </p:nvSpPr>
        <p:spPr>
          <a:xfrm>
            <a:off x="4206240" y="1691640"/>
            <a:ext cx="1645920" cy="38404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59" y="1709928"/>
            <a:ext cx="1554480" cy="347472"/>
          </a:xfrm>
          <a:prstGeom prst="rect">
            <a:avLst/>
          </a:prstGeom>
          <a:noFill/>
        </p:spPr>
        <p:txBody>
          <a:bodyPr wrap="square">
            <a:spAutoFit/>
          </a:bodyPr>
          <a:lstStyle/>
          <a:p>
            <a:pPr algn="ctr"/>
            <a:r>
              <a:rPr sz="1000" b="1" i="0">
                <a:solidFill>
                  <a:srgbClr val="FFFFFF"/>
                </a:solidFill>
              </a:rPr>
              <a:t>Elements</a:t>
            </a:r>
          </a:p>
        </p:txBody>
      </p:sp>
      <p:sp>
        <p:nvSpPr>
          <p:cNvPr id="16" name="Rectangle 15"/>
          <p:cNvSpPr/>
          <p:nvPr/>
        </p:nvSpPr>
        <p:spPr>
          <a:xfrm>
            <a:off x="5852159" y="1691640"/>
            <a:ext cx="2011680" cy="38404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97879" y="1709928"/>
            <a:ext cx="1920240" cy="347472"/>
          </a:xfrm>
          <a:prstGeom prst="rect">
            <a:avLst/>
          </a:prstGeom>
          <a:noFill/>
        </p:spPr>
        <p:txBody>
          <a:bodyPr wrap="square">
            <a:spAutoFit/>
          </a:bodyPr>
          <a:lstStyle/>
          <a:p>
            <a:pPr algn="ctr"/>
            <a:r>
              <a:rPr sz="1000" b="1" i="0">
                <a:solidFill>
                  <a:srgbClr val="FFFFFF"/>
                </a:solidFill>
              </a:rPr>
              <a:t>Max Stress (MPa)</a:t>
            </a:r>
          </a:p>
        </p:txBody>
      </p:sp>
      <p:sp>
        <p:nvSpPr>
          <p:cNvPr id="18" name="Rectangle 17"/>
          <p:cNvSpPr/>
          <p:nvPr/>
        </p:nvSpPr>
        <p:spPr>
          <a:xfrm>
            <a:off x="7863840" y="1691640"/>
            <a:ext cx="1645920" cy="38404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09560" y="1709928"/>
            <a:ext cx="1554480" cy="347472"/>
          </a:xfrm>
          <a:prstGeom prst="rect">
            <a:avLst/>
          </a:prstGeom>
          <a:noFill/>
        </p:spPr>
        <p:txBody>
          <a:bodyPr wrap="square">
            <a:spAutoFit/>
          </a:bodyPr>
          <a:lstStyle/>
          <a:p>
            <a:pPr algn="ctr"/>
            <a:r>
              <a:rPr sz="1000" b="1" i="0">
                <a:solidFill>
                  <a:srgbClr val="FFFFFF"/>
                </a:solidFill>
              </a:rPr>
              <a:t>% Change</a:t>
            </a:r>
          </a:p>
        </p:txBody>
      </p:sp>
      <p:sp>
        <p:nvSpPr>
          <p:cNvPr id="20" name="Rectangle 19"/>
          <p:cNvSpPr/>
          <p:nvPr/>
        </p:nvSpPr>
        <p:spPr>
          <a:xfrm>
            <a:off x="9509760" y="1691640"/>
            <a:ext cx="2221992" cy="38404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55480" y="1709928"/>
            <a:ext cx="2130552" cy="347472"/>
          </a:xfrm>
          <a:prstGeom prst="rect">
            <a:avLst/>
          </a:prstGeom>
          <a:noFill/>
        </p:spPr>
        <p:txBody>
          <a:bodyPr wrap="square">
            <a:spAutoFit/>
          </a:bodyPr>
          <a:lstStyle/>
          <a:p>
            <a:pPr algn="ctr"/>
            <a:r>
              <a:rPr sz="1000" b="1" i="0">
                <a:solidFill>
                  <a:srgbClr val="FFFFFF"/>
                </a:solidFill>
              </a:rPr>
              <a:t>Status</a:t>
            </a:r>
          </a:p>
        </p:txBody>
      </p:sp>
      <p:sp>
        <p:nvSpPr>
          <p:cNvPr id="22" name="Rectangle 21"/>
          <p:cNvSpPr/>
          <p:nvPr/>
        </p:nvSpPr>
        <p:spPr>
          <a:xfrm>
            <a:off x="274320" y="2148840"/>
            <a:ext cx="137160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2194560"/>
            <a:ext cx="1280160" cy="411480"/>
          </a:xfrm>
          <a:prstGeom prst="rect">
            <a:avLst/>
          </a:prstGeom>
          <a:noFill/>
        </p:spPr>
        <p:txBody>
          <a:bodyPr wrap="square">
            <a:spAutoFit/>
          </a:bodyPr>
          <a:lstStyle/>
          <a:p>
            <a:pPr algn="ctr"/>
            <a:r>
              <a:rPr sz="1000" b="0" i="0">
                <a:solidFill>
                  <a:srgbClr val="404040"/>
                </a:solidFill>
              </a:rPr>
              <a:t>Static 1</a:t>
            </a:r>
          </a:p>
        </p:txBody>
      </p:sp>
      <p:sp>
        <p:nvSpPr>
          <p:cNvPr id="24" name="Rectangle 23"/>
          <p:cNvSpPr/>
          <p:nvPr/>
        </p:nvSpPr>
        <p:spPr>
          <a:xfrm>
            <a:off x="1645920" y="2148840"/>
            <a:ext cx="256032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91640" y="2194560"/>
            <a:ext cx="2468879" cy="411480"/>
          </a:xfrm>
          <a:prstGeom prst="rect">
            <a:avLst/>
          </a:prstGeom>
          <a:noFill/>
        </p:spPr>
        <p:txBody>
          <a:bodyPr wrap="square">
            <a:spAutoFit/>
          </a:bodyPr>
          <a:lstStyle/>
          <a:p>
            <a:pPr algn="ctr"/>
            <a:r>
              <a:rPr sz="1000" b="0" i="0">
                <a:solidFill>
                  <a:srgbClr val="404040"/>
                </a:solidFill>
              </a:rPr>
              <a:t>2 mm / 1 mm</a:t>
            </a:r>
          </a:p>
        </p:txBody>
      </p:sp>
      <p:sp>
        <p:nvSpPr>
          <p:cNvPr id="26" name="Rectangle 25"/>
          <p:cNvSpPr/>
          <p:nvPr/>
        </p:nvSpPr>
        <p:spPr>
          <a:xfrm>
            <a:off x="4206240" y="2148840"/>
            <a:ext cx="164592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51959" y="2194560"/>
            <a:ext cx="1554480" cy="411480"/>
          </a:xfrm>
          <a:prstGeom prst="rect">
            <a:avLst/>
          </a:prstGeom>
          <a:noFill/>
        </p:spPr>
        <p:txBody>
          <a:bodyPr wrap="square">
            <a:spAutoFit/>
          </a:bodyPr>
          <a:lstStyle/>
          <a:p>
            <a:pPr algn="ctr"/>
            <a:r>
              <a:rPr sz="1000" b="0" i="1">
                <a:solidFill>
                  <a:srgbClr val="ED7D31"/>
                </a:solidFill>
              </a:rPr>
              <a:t>[ ]</a:t>
            </a:r>
          </a:p>
        </p:txBody>
      </p:sp>
      <p:sp>
        <p:nvSpPr>
          <p:cNvPr id="28" name="Rectangle 27"/>
          <p:cNvSpPr/>
          <p:nvPr/>
        </p:nvSpPr>
        <p:spPr>
          <a:xfrm>
            <a:off x="5852159" y="2148840"/>
            <a:ext cx="201168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7879" y="2194560"/>
            <a:ext cx="1920240" cy="411480"/>
          </a:xfrm>
          <a:prstGeom prst="rect">
            <a:avLst/>
          </a:prstGeom>
          <a:noFill/>
        </p:spPr>
        <p:txBody>
          <a:bodyPr wrap="square">
            <a:spAutoFit/>
          </a:bodyPr>
          <a:lstStyle/>
          <a:p>
            <a:pPr algn="ctr"/>
            <a:r>
              <a:rPr sz="1000" b="0" i="1">
                <a:solidFill>
                  <a:srgbClr val="ED7D31"/>
                </a:solidFill>
              </a:rPr>
              <a:t>[ ]</a:t>
            </a:r>
          </a:p>
        </p:txBody>
      </p:sp>
      <p:sp>
        <p:nvSpPr>
          <p:cNvPr id="30" name="Rectangle 29"/>
          <p:cNvSpPr/>
          <p:nvPr/>
        </p:nvSpPr>
        <p:spPr>
          <a:xfrm>
            <a:off x="7863840" y="2148840"/>
            <a:ext cx="164592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09560" y="2194560"/>
            <a:ext cx="1554480" cy="411480"/>
          </a:xfrm>
          <a:prstGeom prst="rect">
            <a:avLst/>
          </a:prstGeom>
          <a:noFill/>
        </p:spPr>
        <p:txBody>
          <a:bodyPr wrap="square">
            <a:spAutoFit/>
          </a:bodyPr>
          <a:lstStyle/>
          <a:p>
            <a:pPr algn="ctr"/>
            <a:r>
              <a:rPr sz="1000" b="0" i="0">
                <a:solidFill>
                  <a:srgbClr val="404040"/>
                </a:solidFill>
              </a:rPr>
              <a:t>-</a:t>
            </a:r>
          </a:p>
        </p:txBody>
      </p:sp>
      <p:sp>
        <p:nvSpPr>
          <p:cNvPr id="32" name="Rectangle 31"/>
          <p:cNvSpPr/>
          <p:nvPr/>
        </p:nvSpPr>
        <p:spPr>
          <a:xfrm>
            <a:off x="9509760" y="2148840"/>
            <a:ext cx="2221992"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55480" y="2194560"/>
            <a:ext cx="2130552" cy="411480"/>
          </a:xfrm>
          <a:prstGeom prst="rect">
            <a:avLst/>
          </a:prstGeom>
          <a:noFill/>
        </p:spPr>
        <p:txBody>
          <a:bodyPr wrap="square">
            <a:spAutoFit/>
          </a:bodyPr>
          <a:lstStyle/>
          <a:p>
            <a:pPr algn="ctr"/>
            <a:r>
              <a:rPr sz="1000" b="0" i="0">
                <a:solidFill>
                  <a:srgbClr val="404040"/>
                </a:solidFill>
              </a:rPr>
              <a:t/>
            </a:r>
          </a:p>
        </p:txBody>
      </p:sp>
      <p:sp>
        <p:nvSpPr>
          <p:cNvPr id="34" name="Rectangle 33"/>
          <p:cNvSpPr/>
          <p:nvPr/>
        </p:nvSpPr>
        <p:spPr>
          <a:xfrm>
            <a:off x="274320" y="2697480"/>
            <a:ext cx="137160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2743200"/>
            <a:ext cx="1280160" cy="411480"/>
          </a:xfrm>
          <a:prstGeom prst="rect">
            <a:avLst/>
          </a:prstGeom>
          <a:noFill/>
        </p:spPr>
        <p:txBody>
          <a:bodyPr wrap="square">
            <a:spAutoFit/>
          </a:bodyPr>
          <a:lstStyle/>
          <a:p>
            <a:pPr algn="ctr"/>
            <a:r>
              <a:rPr sz="1000" b="0" i="0">
                <a:solidFill>
                  <a:srgbClr val="404040"/>
                </a:solidFill>
              </a:rPr>
              <a:t>Static 2</a:t>
            </a:r>
          </a:p>
        </p:txBody>
      </p:sp>
      <p:sp>
        <p:nvSpPr>
          <p:cNvPr id="36" name="Rectangle 35"/>
          <p:cNvSpPr/>
          <p:nvPr/>
        </p:nvSpPr>
        <p:spPr>
          <a:xfrm>
            <a:off x="1645920" y="2697480"/>
            <a:ext cx="256032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91640" y="2743200"/>
            <a:ext cx="2468879" cy="411480"/>
          </a:xfrm>
          <a:prstGeom prst="rect">
            <a:avLst/>
          </a:prstGeom>
          <a:noFill/>
        </p:spPr>
        <p:txBody>
          <a:bodyPr wrap="square">
            <a:spAutoFit/>
          </a:bodyPr>
          <a:lstStyle/>
          <a:p>
            <a:pPr algn="ctr"/>
            <a:r>
              <a:rPr sz="1000" b="0" i="0">
                <a:solidFill>
                  <a:srgbClr val="404040"/>
                </a:solidFill>
              </a:rPr>
              <a:t>0.5 mm / 0.25 mm</a:t>
            </a:r>
          </a:p>
        </p:txBody>
      </p:sp>
      <p:sp>
        <p:nvSpPr>
          <p:cNvPr id="38" name="Rectangle 37"/>
          <p:cNvSpPr/>
          <p:nvPr/>
        </p:nvSpPr>
        <p:spPr>
          <a:xfrm>
            <a:off x="4206240" y="2697480"/>
            <a:ext cx="164592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51959" y="2743200"/>
            <a:ext cx="1554480" cy="411480"/>
          </a:xfrm>
          <a:prstGeom prst="rect">
            <a:avLst/>
          </a:prstGeom>
          <a:noFill/>
        </p:spPr>
        <p:txBody>
          <a:bodyPr wrap="square">
            <a:spAutoFit/>
          </a:bodyPr>
          <a:lstStyle/>
          <a:p>
            <a:pPr algn="ctr"/>
            <a:r>
              <a:rPr sz="1000" b="0" i="1">
                <a:solidFill>
                  <a:srgbClr val="ED7D31"/>
                </a:solidFill>
              </a:rPr>
              <a:t>[ ]</a:t>
            </a:r>
          </a:p>
        </p:txBody>
      </p:sp>
      <p:sp>
        <p:nvSpPr>
          <p:cNvPr id="40" name="Rectangle 39"/>
          <p:cNvSpPr/>
          <p:nvPr/>
        </p:nvSpPr>
        <p:spPr>
          <a:xfrm>
            <a:off x="5852159" y="2697480"/>
            <a:ext cx="201168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97879" y="2743200"/>
            <a:ext cx="1920240" cy="411480"/>
          </a:xfrm>
          <a:prstGeom prst="rect">
            <a:avLst/>
          </a:prstGeom>
          <a:noFill/>
        </p:spPr>
        <p:txBody>
          <a:bodyPr wrap="square">
            <a:spAutoFit/>
          </a:bodyPr>
          <a:lstStyle/>
          <a:p>
            <a:pPr algn="ctr"/>
            <a:r>
              <a:rPr sz="1000" b="0" i="1">
                <a:solidFill>
                  <a:srgbClr val="ED7D31"/>
                </a:solidFill>
              </a:rPr>
              <a:t>[ ]</a:t>
            </a:r>
          </a:p>
        </p:txBody>
      </p:sp>
      <p:sp>
        <p:nvSpPr>
          <p:cNvPr id="42" name="Rectangle 41"/>
          <p:cNvSpPr/>
          <p:nvPr/>
        </p:nvSpPr>
        <p:spPr>
          <a:xfrm>
            <a:off x="7863840" y="2697480"/>
            <a:ext cx="164592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09560" y="2743200"/>
            <a:ext cx="1554480" cy="411480"/>
          </a:xfrm>
          <a:prstGeom prst="rect">
            <a:avLst/>
          </a:prstGeom>
          <a:noFill/>
        </p:spPr>
        <p:txBody>
          <a:bodyPr wrap="square">
            <a:spAutoFit/>
          </a:bodyPr>
          <a:lstStyle/>
          <a:p>
            <a:pPr algn="ctr"/>
            <a:r>
              <a:rPr sz="1000" b="0" i="1">
                <a:solidFill>
                  <a:srgbClr val="ED7D31"/>
                </a:solidFill>
              </a:rPr>
              <a:t>[ ]</a:t>
            </a:r>
          </a:p>
        </p:txBody>
      </p:sp>
      <p:sp>
        <p:nvSpPr>
          <p:cNvPr id="44" name="Rectangle 43"/>
          <p:cNvSpPr/>
          <p:nvPr/>
        </p:nvSpPr>
        <p:spPr>
          <a:xfrm>
            <a:off x="9509760" y="2697480"/>
            <a:ext cx="2221992"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55480" y="2743200"/>
            <a:ext cx="2130552" cy="411480"/>
          </a:xfrm>
          <a:prstGeom prst="rect">
            <a:avLst/>
          </a:prstGeom>
          <a:noFill/>
        </p:spPr>
        <p:txBody>
          <a:bodyPr wrap="square">
            <a:spAutoFit/>
          </a:bodyPr>
          <a:lstStyle/>
          <a:p>
            <a:pPr algn="ctr"/>
            <a:r>
              <a:rPr sz="1000" b="0" i="0">
                <a:solidFill>
                  <a:srgbClr val="404040"/>
                </a:solidFill>
              </a:rPr>
              <a:t/>
            </a:r>
          </a:p>
        </p:txBody>
      </p:sp>
      <p:sp>
        <p:nvSpPr>
          <p:cNvPr id="46" name="Rectangle 45"/>
          <p:cNvSpPr/>
          <p:nvPr/>
        </p:nvSpPr>
        <p:spPr>
          <a:xfrm>
            <a:off x="274320" y="3246120"/>
            <a:ext cx="137160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0040" y="3291839"/>
            <a:ext cx="1280160" cy="411480"/>
          </a:xfrm>
          <a:prstGeom prst="rect">
            <a:avLst/>
          </a:prstGeom>
          <a:noFill/>
        </p:spPr>
        <p:txBody>
          <a:bodyPr wrap="square">
            <a:spAutoFit/>
          </a:bodyPr>
          <a:lstStyle/>
          <a:p>
            <a:pPr algn="ctr"/>
            <a:r>
              <a:rPr sz="1000" b="0" i="0">
                <a:solidFill>
                  <a:srgbClr val="404040"/>
                </a:solidFill>
              </a:rPr>
              <a:t>Static 3</a:t>
            </a:r>
          </a:p>
        </p:txBody>
      </p:sp>
      <p:sp>
        <p:nvSpPr>
          <p:cNvPr id="48" name="Rectangle 47"/>
          <p:cNvSpPr/>
          <p:nvPr/>
        </p:nvSpPr>
        <p:spPr>
          <a:xfrm>
            <a:off x="1645920" y="3246120"/>
            <a:ext cx="256032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691640" y="3291839"/>
            <a:ext cx="2468879" cy="411480"/>
          </a:xfrm>
          <a:prstGeom prst="rect">
            <a:avLst/>
          </a:prstGeom>
          <a:noFill/>
        </p:spPr>
        <p:txBody>
          <a:bodyPr wrap="square">
            <a:spAutoFit/>
          </a:bodyPr>
          <a:lstStyle/>
          <a:p>
            <a:pPr algn="ctr"/>
            <a:r>
              <a:rPr sz="1000" b="0" i="0">
                <a:solidFill>
                  <a:srgbClr val="404040"/>
                </a:solidFill>
              </a:rPr>
              <a:t>0.25 mm / 0.125 mm</a:t>
            </a:r>
          </a:p>
        </p:txBody>
      </p:sp>
      <p:sp>
        <p:nvSpPr>
          <p:cNvPr id="50" name="Rectangle 49"/>
          <p:cNvSpPr/>
          <p:nvPr/>
        </p:nvSpPr>
        <p:spPr>
          <a:xfrm>
            <a:off x="4206240" y="3246120"/>
            <a:ext cx="164592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51959" y="3291839"/>
            <a:ext cx="1554480" cy="411480"/>
          </a:xfrm>
          <a:prstGeom prst="rect">
            <a:avLst/>
          </a:prstGeom>
          <a:noFill/>
        </p:spPr>
        <p:txBody>
          <a:bodyPr wrap="square">
            <a:spAutoFit/>
          </a:bodyPr>
          <a:lstStyle/>
          <a:p>
            <a:pPr algn="ctr"/>
            <a:r>
              <a:rPr sz="1000" b="0" i="1">
                <a:solidFill>
                  <a:srgbClr val="ED7D31"/>
                </a:solidFill>
              </a:rPr>
              <a:t>[ ]</a:t>
            </a:r>
          </a:p>
        </p:txBody>
      </p:sp>
      <p:sp>
        <p:nvSpPr>
          <p:cNvPr id="52" name="Rectangle 51"/>
          <p:cNvSpPr/>
          <p:nvPr/>
        </p:nvSpPr>
        <p:spPr>
          <a:xfrm>
            <a:off x="5852159" y="3246120"/>
            <a:ext cx="201168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97879" y="3291839"/>
            <a:ext cx="1920240" cy="411480"/>
          </a:xfrm>
          <a:prstGeom prst="rect">
            <a:avLst/>
          </a:prstGeom>
          <a:noFill/>
        </p:spPr>
        <p:txBody>
          <a:bodyPr wrap="square">
            <a:spAutoFit/>
          </a:bodyPr>
          <a:lstStyle/>
          <a:p>
            <a:pPr algn="ctr"/>
            <a:r>
              <a:rPr sz="1000" b="0" i="1">
                <a:solidFill>
                  <a:srgbClr val="ED7D31"/>
                </a:solidFill>
              </a:rPr>
              <a:t>[ ]</a:t>
            </a:r>
          </a:p>
        </p:txBody>
      </p:sp>
      <p:sp>
        <p:nvSpPr>
          <p:cNvPr id="54" name="Rectangle 53"/>
          <p:cNvSpPr/>
          <p:nvPr/>
        </p:nvSpPr>
        <p:spPr>
          <a:xfrm>
            <a:off x="7863840" y="3246120"/>
            <a:ext cx="1645920"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909560" y="3291839"/>
            <a:ext cx="1554480" cy="411480"/>
          </a:xfrm>
          <a:prstGeom prst="rect">
            <a:avLst/>
          </a:prstGeom>
          <a:noFill/>
        </p:spPr>
        <p:txBody>
          <a:bodyPr wrap="square">
            <a:spAutoFit/>
          </a:bodyPr>
          <a:lstStyle/>
          <a:p>
            <a:pPr algn="ctr"/>
            <a:r>
              <a:rPr sz="1000" b="0" i="1">
                <a:solidFill>
                  <a:srgbClr val="ED7D31"/>
                </a:solidFill>
              </a:rPr>
              <a:t>[ ]</a:t>
            </a:r>
          </a:p>
        </p:txBody>
      </p:sp>
      <p:sp>
        <p:nvSpPr>
          <p:cNvPr id="56" name="Rectangle 55"/>
          <p:cNvSpPr/>
          <p:nvPr/>
        </p:nvSpPr>
        <p:spPr>
          <a:xfrm>
            <a:off x="9509760" y="3246120"/>
            <a:ext cx="2221992" cy="502920"/>
          </a:xfrm>
          <a:prstGeom prst="rect">
            <a:avLst/>
          </a:prstGeom>
          <a:solidFill>
            <a:srgbClr val="EDF2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555480" y="3291839"/>
            <a:ext cx="2130552" cy="411480"/>
          </a:xfrm>
          <a:prstGeom prst="rect">
            <a:avLst/>
          </a:prstGeom>
          <a:noFill/>
        </p:spPr>
        <p:txBody>
          <a:bodyPr wrap="square">
            <a:spAutoFit/>
          </a:bodyPr>
          <a:lstStyle/>
          <a:p>
            <a:pPr algn="ctr"/>
            <a:r>
              <a:rPr sz="1000" b="0" i="0">
                <a:solidFill>
                  <a:srgbClr val="404040"/>
                </a:solidFill>
              </a:rPr>
              <a:t/>
            </a:r>
          </a:p>
        </p:txBody>
      </p:sp>
      <p:sp>
        <p:nvSpPr>
          <p:cNvPr id="58" name="Rectangle 57"/>
          <p:cNvSpPr/>
          <p:nvPr/>
        </p:nvSpPr>
        <p:spPr>
          <a:xfrm>
            <a:off x="274320" y="3794760"/>
            <a:ext cx="137160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0040" y="3840480"/>
            <a:ext cx="1280160" cy="411480"/>
          </a:xfrm>
          <a:prstGeom prst="rect">
            <a:avLst/>
          </a:prstGeom>
          <a:noFill/>
        </p:spPr>
        <p:txBody>
          <a:bodyPr wrap="square">
            <a:spAutoFit/>
          </a:bodyPr>
          <a:lstStyle/>
          <a:p>
            <a:pPr algn="ctr"/>
            <a:r>
              <a:rPr sz="1000" b="0" i="0">
                <a:solidFill>
                  <a:srgbClr val="404040"/>
                </a:solidFill>
              </a:rPr>
              <a:t>Static 4</a:t>
            </a:r>
          </a:p>
        </p:txBody>
      </p:sp>
      <p:sp>
        <p:nvSpPr>
          <p:cNvPr id="60" name="Rectangle 59"/>
          <p:cNvSpPr/>
          <p:nvPr/>
        </p:nvSpPr>
        <p:spPr>
          <a:xfrm>
            <a:off x="1645920" y="3794760"/>
            <a:ext cx="256032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691640" y="3840480"/>
            <a:ext cx="2468879" cy="411480"/>
          </a:xfrm>
          <a:prstGeom prst="rect">
            <a:avLst/>
          </a:prstGeom>
          <a:noFill/>
        </p:spPr>
        <p:txBody>
          <a:bodyPr wrap="square">
            <a:spAutoFit/>
          </a:bodyPr>
          <a:lstStyle/>
          <a:p>
            <a:pPr algn="ctr"/>
            <a:r>
              <a:rPr sz="1000" b="0" i="0">
                <a:solidFill>
                  <a:srgbClr val="404040"/>
                </a:solidFill>
              </a:rPr>
              <a:t>0.125 mm / 0.0625 mm</a:t>
            </a:r>
          </a:p>
        </p:txBody>
      </p:sp>
      <p:sp>
        <p:nvSpPr>
          <p:cNvPr id="62" name="Rectangle 61"/>
          <p:cNvSpPr/>
          <p:nvPr/>
        </p:nvSpPr>
        <p:spPr>
          <a:xfrm>
            <a:off x="4206240" y="3794760"/>
            <a:ext cx="164592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251959" y="3840480"/>
            <a:ext cx="1554480" cy="411480"/>
          </a:xfrm>
          <a:prstGeom prst="rect">
            <a:avLst/>
          </a:prstGeom>
          <a:noFill/>
        </p:spPr>
        <p:txBody>
          <a:bodyPr wrap="square">
            <a:spAutoFit/>
          </a:bodyPr>
          <a:lstStyle/>
          <a:p>
            <a:pPr algn="ctr"/>
            <a:r>
              <a:rPr sz="1000" b="0" i="1">
                <a:solidFill>
                  <a:srgbClr val="ED7D31"/>
                </a:solidFill>
              </a:rPr>
              <a:t>[ ]</a:t>
            </a:r>
          </a:p>
        </p:txBody>
      </p:sp>
      <p:sp>
        <p:nvSpPr>
          <p:cNvPr id="64" name="Rectangle 63"/>
          <p:cNvSpPr/>
          <p:nvPr/>
        </p:nvSpPr>
        <p:spPr>
          <a:xfrm>
            <a:off x="5852159" y="3794760"/>
            <a:ext cx="201168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97879" y="3840480"/>
            <a:ext cx="1920240" cy="411480"/>
          </a:xfrm>
          <a:prstGeom prst="rect">
            <a:avLst/>
          </a:prstGeom>
          <a:noFill/>
        </p:spPr>
        <p:txBody>
          <a:bodyPr wrap="square">
            <a:spAutoFit/>
          </a:bodyPr>
          <a:lstStyle/>
          <a:p>
            <a:pPr algn="ctr"/>
            <a:r>
              <a:rPr sz="1000" b="0" i="1">
                <a:solidFill>
                  <a:srgbClr val="ED7D31"/>
                </a:solidFill>
              </a:rPr>
              <a:t>[ ]</a:t>
            </a:r>
          </a:p>
        </p:txBody>
      </p:sp>
      <p:sp>
        <p:nvSpPr>
          <p:cNvPr id="66" name="Rectangle 65"/>
          <p:cNvSpPr/>
          <p:nvPr/>
        </p:nvSpPr>
        <p:spPr>
          <a:xfrm>
            <a:off x="7863840" y="3794760"/>
            <a:ext cx="1645920"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909560" y="3840480"/>
            <a:ext cx="1554480" cy="411480"/>
          </a:xfrm>
          <a:prstGeom prst="rect">
            <a:avLst/>
          </a:prstGeom>
          <a:noFill/>
        </p:spPr>
        <p:txBody>
          <a:bodyPr wrap="square">
            <a:spAutoFit/>
          </a:bodyPr>
          <a:lstStyle/>
          <a:p>
            <a:pPr algn="ctr"/>
            <a:r>
              <a:rPr sz="1000" b="0" i="1">
                <a:solidFill>
                  <a:srgbClr val="ED7D31"/>
                </a:solidFill>
              </a:rPr>
              <a:t>[ ]</a:t>
            </a:r>
          </a:p>
        </p:txBody>
      </p:sp>
      <p:sp>
        <p:nvSpPr>
          <p:cNvPr id="68" name="Rectangle 67"/>
          <p:cNvSpPr/>
          <p:nvPr/>
        </p:nvSpPr>
        <p:spPr>
          <a:xfrm>
            <a:off x="9509760" y="3794760"/>
            <a:ext cx="2221992" cy="50292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555480" y="3840480"/>
            <a:ext cx="2130552" cy="411480"/>
          </a:xfrm>
          <a:prstGeom prst="rect">
            <a:avLst/>
          </a:prstGeom>
          <a:noFill/>
        </p:spPr>
        <p:txBody>
          <a:bodyPr wrap="square">
            <a:spAutoFit/>
          </a:bodyPr>
          <a:lstStyle/>
          <a:p>
            <a:pPr algn="ctr"/>
            <a:r>
              <a:rPr sz="1000" b="0" i="0">
                <a:solidFill>
                  <a:srgbClr val="404040"/>
                </a:solidFill>
              </a:rPr>
              <a:t/>
            </a:r>
          </a:p>
        </p:txBody>
      </p:sp>
      <p:sp>
        <p:nvSpPr>
          <p:cNvPr id="70" name="Rectangle 69"/>
          <p:cNvSpPr/>
          <p:nvPr/>
        </p:nvSpPr>
        <p:spPr>
          <a:xfrm>
            <a:off x="274320" y="4572000"/>
            <a:ext cx="11640312" cy="1783080"/>
          </a:xfrm>
          <a:prstGeom prst="rect">
            <a:avLst/>
          </a:prstGeom>
          <a:solidFill>
            <a:srgbClr val="FCF1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274320" y="4572000"/>
            <a:ext cx="11640312" cy="365760"/>
          </a:xfrm>
          <a:prstGeom prst="rect">
            <a:avLst/>
          </a:prstGeom>
          <a:solidFill>
            <a:srgbClr val="C99A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65760" y="4590288"/>
            <a:ext cx="11430000" cy="310896"/>
          </a:xfrm>
          <a:prstGeom prst="rect">
            <a:avLst/>
          </a:prstGeom>
          <a:noFill/>
        </p:spPr>
        <p:txBody>
          <a:bodyPr wrap="square">
            <a:spAutoFit/>
          </a:bodyPr>
          <a:lstStyle/>
          <a:p>
            <a:pPr algn="l"/>
            <a:r>
              <a:rPr sz="1200" b="1" i="0">
                <a:solidFill>
                  <a:srgbClr val="FFFFFF"/>
                </a:solidFill>
              </a:rPr>
              <a:t>Instructions to Complete This Table</a:t>
            </a:r>
          </a:p>
        </p:txBody>
      </p:sp>
      <p:sp>
        <p:nvSpPr>
          <p:cNvPr id="73" name="TextBox 72"/>
          <p:cNvSpPr txBox="1"/>
          <p:nvPr/>
        </p:nvSpPr>
        <p:spPr>
          <a:xfrm>
            <a:off x="411480" y="5029200"/>
            <a:ext cx="11338560" cy="1280160"/>
          </a:xfrm>
          <a:prstGeom prst="rect">
            <a:avLst/>
          </a:prstGeom>
          <a:noFill/>
        </p:spPr>
        <p:txBody>
          <a:bodyPr wrap="square">
            <a:spAutoFit/>
          </a:bodyPr>
          <a:lstStyle/>
          <a:p>
            <a:pPr>
              <a:spcBef>
                <a:spcPts val="400"/>
              </a:spcBef>
            </a:pPr>
            <a:r>
              <a:rPr sz="1000">
                <a:solidFill>
                  <a:srgbClr val="404040"/>
                </a:solidFill>
              </a:rPr>
              <a:t>1. Re-probe each Static study using "At Node number" or the exact same XYZ coordinate (e.g. -4.5, -36.8, 4.0 mm) so every study reads the SAME location.</a:t>
            </a:r>
          </a:p>
          <a:p>
            <a:pPr>
              <a:spcBef>
                <a:spcPts val="400"/>
              </a:spcBef>
            </a:pPr>
            <a:r>
              <a:rPr sz="1000">
                <a:solidFill>
                  <a:srgbClr val="404040"/>
                </a:solidFill>
              </a:rPr>
              <a:t>2. Get element counts from right-click Mesh &gt; Details for each study.</a:t>
            </a:r>
          </a:p>
          <a:p>
            <a:pPr>
              <a:spcBef>
                <a:spcPts val="400"/>
              </a:spcBef>
            </a:pPr>
            <a:r>
              <a:rPr sz="1000">
                <a:solidFill>
                  <a:srgbClr val="404040"/>
                </a:solidFill>
              </a:rPr>
              <a:t>3. Calculate % Change = |Stress(n) - Stress(n-1)| / Stress(n) x 100%. Stop once this is &lt;= 2%.</a:t>
            </a:r>
          </a:p>
          <a:p>
            <a:pPr>
              <a:spcBef>
                <a:spcPts val="400"/>
              </a:spcBef>
            </a:pPr>
            <a:r>
              <a:rPr sz="1000">
                <a:solidFill>
                  <a:srgbClr val="404040"/>
                </a:solidFill>
              </a:rPr>
              <a:t>4. Once converged, this table feeds directly into the convergence graph on the next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Criteria 2: Convergence Graph</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Stress vs. Number of Elements</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1371600" y="1280160"/>
            <a:ext cx="9445752" cy="4389120"/>
          </a:xfrm>
          <a:prstGeom prst="rect">
            <a:avLst/>
          </a:prstGeom>
          <a:solidFill>
            <a:srgbClr val="E0E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371600" y="1280160"/>
            <a:ext cx="9445752" cy="347472"/>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298448"/>
            <a:ext cx="9262872" cy="292608"/>
          </a:xfrm>
          <a:prstGeom prst="rect">
            <a:avLst/>
          </a:prstGeom>
          <a:noFill/>
        </p:spPr>
        <p:txBody>
          <a:bodyPr wrap="square">
            <a:spAutoFit/>
          </a:bodyPr>
          <a:lstStyle/>
          <a:p>
            <a:pPr algn="l"/>
            <a:r>
              <a:rPr sz="1000" b="1" i="0">
                <a:solidFill>
                  <a:srgbClr val="FFFFFF"/>
                </a:solidFill>
              </a:rPr>
              <a:t>Convergence Graph</a:t>
            </a:r>
          </a:p>
        </p:txBody>
      </p:sp>
      <p:sp>
        <p:nvSpPr>
          <p:cNvPr id="11" name="TextBox 10"/>
          <p:cNvSpPr txBox="1"/>
          <p:nvPr/>
        </p:nvSpPr>
        <p:spPr>
          <a:xfrm>
            <a:off x="1371600" y="3200400"/>
            <a:ext cx="9445752" cy="548640"/>
          </a:xfrm>
          <a:prstGeom prst="rect">
            <a:avLst/>
          </a:prstGeom>
          <a:noFill/>
        </p:spPr>
        <p:txBody>
          <a:bodyPr wrap="square">
            <a:spAutoFit/>
          </a:bodyPr>
          <a:lstStyle/>
          <a:p>
            <a:pPr algn="ctr"/>
            <a:r>
              <a:rPr sz="1100" b="0" i="1">
                <a:solidFill>
                  <a:srgbClr val="1F3564"/>
                </a:solidFill>
              </a:rPr>
              <a:t>[ Insert chart here:
X-axis = Number of Elements
Y-axis = Max Von Mises Stress (MPa)
(Plot all 4 Static studies as a line graph in Excel/PowerPoint, then paste/insert) ]</a:t>
            </a:r>
          </a:p>
        </p:txBody>
      </p:sp>
      <p:sp>
        <p:nvSpPr>
          <p:cNvPr id="12" name="Rectangle 11"/>
          <p:cNvSpPr/>
          <p:nvPr/>
        </p:nvSpPr>
        <p:spPr>
          <a:xfrm>
            <a:off x="1371600" y="5806440"/>
            <a:ext cx="9445752" cy="5486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63040" y="5852160"/>
            <a:ext cx="9235440" cy="457200"/>
          </a:xfrm>
          <a:prstGeom prst="rect">
            <a:avLst/>
          </a:prstGeom>
          <a:noFill/>
        </p:spPr>
        <p:txBody>
          <a:bodyPr wrap="square">
            <a:spAutoFit/>
          </a:bodyPr>
          <a:lstStyle/>
          <a:p>
            <a:pPr algn="ctr"/>
            <a:r>
              <a:rPr sz="1000" b="0" i="1">
                <a:solidFill>
                  <a:srgbClr val="404040"/>
                </a:solidFill>
              </a:rPr>
              <a:t>Graph should show stress asymptotically levelling off as element count increases, confirming convergence.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Safety Assessment</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Factor of Safety Conclusion</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11640312" cy="5166360"/>
          </a:xfrm>
          <a:prstGeom prst="rect">
            <a:avLst/>
          </a:prstGeom>
          <a:solidFill>
            <a:srgbClr val="D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43000"/>
            <a:ext cx="11640312" cy="384048"/>
          </a:xfrm>
          <a:prstGeom prst="rect">
            <a:avLst/>
          </a:prstGeom>
          <a:solidFill>
            <a:srgbClr val="378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11430000" cy="329184"/>
          </a:xfrm>
          <a:prstGeom prst="rect">
            <a:avLst/>
          </a:prstGeom>
          <a:noFill/>
        </p:spPr>
        <p:txBody>
          <a:bodyPr wrap="square">
            <a:spAutoFit/>
          </a:bodyPr>
          <a:lstStyle/>
          <a:p>
            <a:pPr algn="l"/>
            <a:r>
              <a:rPr sz="1300" b="1" i="0">
                <a:solidFill>
                  <a:srgbClr val="FFFFFF"/>
                </a:solidFill>
              </a:rPr>
              <a:t>Final Converged Result</a:t>
            </a:r>
          </a:p>
        </p:txBody>
      </p:sp>
      <p:sp>
        <p:nvSpPr>
          <p:cNvPr id="11" name="TextBox 10"/>
          <p:cNvSpPr txBox="1"/>
          <p:nvPr/>
        </p:nvSpPr>
        <p:spPr>
          <a:xfrm>
            <a:off x="548640" y="1737360"/>
            <a:ext cx="10881360" cy="4206240"/>
          </a:xfrm>
          <a:prstGeom prst="rect">
            <a:avLst/>
          </a:prstGeom>
          <a:noFill/>
        </p:spPr>
        <p:txBody>
          <a:bodyPr wrap="square">
            <a:spAutoFit/>
          </a:bodyPr>
          <a:lstStyle/>
          <a:p>
            <a:pPr>
              <a:spcBef>
                <a:spcPts val="1400"/>
              </a:spcBef>
            </a:pPr>
            <a:r>
              <a:rPr b="1" sz="1300">
                <a:solidFill>
                  <a:srgbClr val="1F3564"/>
                </a:solidFill>
              </a:rPr>
              <a:t>Converged Max Von Mises Stress: </a:t>
            </a:r>
            <a:r>
              <a:rPr sz="1300" i="1">
                <a:solidFill>
                  <a:srgbClr val="ED7D31"/>
                </a:solidFill>
              </a:rPr>
              <a:t>[ INSERT final converged value ] MPa</a:t>
            </a:r>
          </a:p>
          <a:p>
            <a:pPr>
              <a:spcBef>
                <a:spcPts val="1400"/>
              </a:spcBef>
            </a:pPr>
            <a:r>
              <a:rPr b="1" sz="1300">
                <a:solidFill>
                  <a:srgbClr val="1F3564"/>
                </a:solidFill>
              </a:rPr>
              <a:t>PA Type 6 Yield Strength: </a:t>
            </a:r>
            <a:r>
              <a:rPr sz="1300" i="0">
                <a:solidFill>
                  <a:srgbClr val="404040"/>
                </a:solidFill>
              </a:rPr>
              <a:t>193.6 MPa</a:t>
            </a:r>
          </a:p>
          <a:p>
            <a:pPr>
              <a:spcBef>
                <a:spcPts val="1400"/>
              </a:spcBef>
            </a:pPr>
            <a:r>
              <a:rPr b="1" sz="1300">
                <a:solidFill>
                  <a:srgbClr val="1F3564"/>
                </a:solidFill>
              </a:rPr>
              <a:t>Factor of Safety: </a:t>
            </a:r>
            <a:r>
              <a:rPr sz="1300" i="1">
                <a:solidFill>
                  <a:srgbClr val="ED7D31"/>
                </a:solidFill>
              </a:rPr>
              <a:t>= 193.6 / [stress] = [ INSERT calculation ]</a:t>
            </a:r>
          </a:p>
          <a:p>
            <a:pPr>
              <a:spcBef>
                <a:spcPts val="1400"/>
              </a:spcBef>
            </a:pPr>
          </a:p>
          <a:p>
            <a:pPr>
              <a:spcBef>
                <a:spcPts val="1400"/>
              </a:spcBef>
            </a:pPr>
            <a:r>
              <a:rPr b="1" sz="1200">
                <a:solidFill>
                  <a:srgbClr val="1F3564"/>
                </a:solidFill>
              </a:rPr>
              <a:t>Conclusion: </a:t>
            </a:r>
            <a:r>
              <a:rPr sz="1100" i="0">
                <a:solidFill>
                  <a:srgbClr val="404040"/>
                </a:solidFill>
              </a:rPr>
              <a:t>The buckle's male insert component withstands the 15 N operating load with a Factor of Safety well above 1.0, confirming the part will not yield in service. The CAD model satisfies all DfM requirements (draft angles, wall thickness, no undercuts), and the FEA demonstrates a rigorous mesh convergence methodology consistent with the practices taught in the module.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548640"/>
          </a:xfrm>
          <a:prstGeom prst="rect">
            <a:avLst/>
          </a:prstGeom>
          <a:noFill/>
        </p:spPr>
        <p:txBody>
          <a:bodyPr wrap="square">
            <a:spAutoFit/>
          </a:bodyPr>
          <a:lstStyle/>
          <a:p>
            <a:pPr algn="l"/>
            <a:r>
              <a:rPr sz="2400" b="1" i="0">
                <a:solidFill>
                  <a:srgbClr val="FFFFFF"/>
                </a:solidFill>
              </a:rPr>
              <a:t>Conclusion</a:t>
            </a:r>
          </a:p>
        </p:txBody>
      </p:sp>
      <p:sp>
        <p:nvSpPr>
          <p:cNvPr id="4" name="TextBox 3"/>
          <p:cNvSpPr txBox="1"/>
          <p:nvPr/>
        </p:nvSpPr>
        <p:spPr>
          <a:xfrm>
            <a:off x="274320" y="594360"/>
            <a:ext cx="10972800" cy="365760"/>
          </a:xfrm>
          <a:prstGeom prst="rect">
            <a:avLst/>
          </a:prstGeom>
          <a:noFill/>
        </p:spPr>
        <p:txBody>
          <a:bodyPr wrap="square">
            <a:spAutoFit/>
          </a:bodyPr>
          <a:lstStyle/>
          <a:p>
            <a:pPr algn="l"/>
            <a:r>
              <a:rPr sz="1300" b="0" i="0">
                <a:solidFill>
                  <a:srgbClr val="BDD7EE"/>
                </a:solidFill>
              </a:rPr>
              <a:t>Compliance with Criteria 1 and Criteria 2</a:t>
            </a:r>
          </a:p>
        </p:txBody>
      </p:sp>
      <p:sp>
        <p:nvSpPr>
          <p:cNvPr id="5" name="Rectangle 4"/>
          <p:cNvSpPr/>
          <p:nvPr/>
        </p:nvSpPr>
        <p:spPr>
          <a:xfrm>
            <a:off x="0" y="6492240"/>
            <a:ext cx="12188952" cy="365760"/>
          </a:xfrm>
          <a:prstGeom prst="rect">
            <a:avLst/>
          </a:prstGeom>
          <a:solidFill>
            <a:srgbClr val="2E74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9144000" cy="228600"/>
          </a:xfrm>
          <a:prstGeom prst="rect">
            <a:avLst/>
          </a:prstGeom>
          <a:noFill/>
        </p:spPr>
        <p:txBody>
          <a:bodyPr wrap="square">
            <a:spAutoFit/>
          </a:bodyPr>
          <a:lstStyle/>
          <a:p>
            <a:pPr algn="l"/>
            <a:r>
              <a:rPr sz="900" b="0" i="0">
                <a:solidFill>
                  <a:srgbClr val="FFFFFF"/>
                </a:solidFill>
              </a:rPr>
              <a:t>DM024-4-2 Manufacturing Processes  |  Assessment 3  |  APU</a:t>
            </a:r>
          </a:p>
        </p:txBody>
      </p:sp>
      <p:sp>
        <p:nvSpPr>
          <p:cNvPr id="7" name="TextBox 6"/>
          <p:cNvSpPr txBox="1"/>
          <p:nvPr/>
        </p:nvSpPr>
        <p:spPr>
          <a:xfrm>
            <a:off x="9601200" y="6510528"/>
            <a:ext cx="2560320" cy="228600"/>
          </a:xfrm>
          <a:prstGeom prst="rect">
            <a:avLst/>
          </a:prstGeom>
          <a:noFill/>
        </p:spPr>
        <p:txBody>
          <a:bodyPr wrap="square">
            <a:spAutoFit/>
          </a:bodyPr>
          <a:lstStyle/>
          <a:p>
            <a:pPr algn="r"/>
            <a:r>
              <a:rPr sz="900" b="0" i="0">
                <a:solidFill>
                  <a:srgbClr val="FFFFFF"/>
                </a:solidFill>
              </a:rPr>
              <a:t>Adam Mohamed  |  TP073524</a:t>
            </a:r>
          </a:p>
        </p:txBody>
      </p:sp>
      <p:sp>
        <p:nvSpPr>
          <p:cNvPr id="8" name="Rectangle 7"/>
          <p:cNvSpPr/>
          <p:nvPr/>
        </p:nvSpPr>
        <p:spPr>
          <a:xfrm>
            <a:off x="274320" y="1143000"/>
            <a:ext cx="11640312" cy="5166360"/>
          </a:xfrm>
          <a:prstGeom prst="rect">
            <a:avLst/>
          </a:prstGeom>
          <a:solidFill>
            <a:srgbClr val="F9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109728" cy="11887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71600"/>
            <a:ext cx="10972800" cy="365760"/>
          </a:xfrm>
          <a:prstGeom prst="rect">
            <a:avLst/>
          </a:prstGeom>
          <a:noFill/>
        </p:spPr>
        <p:txBody>
          <a:bodyPr wrap="square">
            <a:spAutoFit/>
          </a:bodyPr>
          <a:lstStyle/>
          <a:p>
            <a:pPr algn="l"/>
            <a:r>
              <a:rPr sz="1400" b="1" i="0">
                <a:solidFill>
                  <a:srgbClr val="1F3564"/>
                </a:solidFill>
              </a:rPr>
              <a:t>Criteria 1 — 3D CAD Model: COMPLIANT</a:t>
            </a:r>
          </a:p>
        </p:txBody>
      </p:sp>
      <p:sp>
        <p:nvSpPr>
          <p:cNvPr id="11" name="TextBox 10"/>
          <p:cNvSpPr txBox="1"/>
          <p:nvPr/>
        </p:nvSpPr>
        <p:spPr>
          <a:xfrm>
            <a:off x="594360" y="1755648"/>
            <a:ext cx="10972800" cy="1005840"/>
          </a:xfrm>
          <a:prstGeom prst="rect">
            <a:avLst/>
          </a:prstGeom>
          <a:noFill/>
        </p:spPr>
        <p:txBody>
          <a:bodyPr wrap="square">
            <a:spAutoFit/>
          </a:bodyPr>
          <a:lstStyle/>
          <a:p>
            <a:pPr algn="l"/>
            <a:r>
              <a:rPr sz="1100" b="0" i="0">
                <a:solidFill>
                  <a:srgbClr val="404040"/>
                </a:solidFill>
              </a:rPr>
              <a:t>Model and drawing demonstrate correct material (PA Type 6), no DfM shortcomings, validated by Draft Analysis and Thickness Analysis, with a complete FeatureManager Tree and linked slddrw drawing.</a:t>
            </a:r>
          </a:p>
        </p:txBody>
      </p:sp>
      <p:sp>
        <p:nvSpPr>
          <p:cNvPr id="12" name="Rectangle 11"/>
          <p:cNvSpPr/>
          <p:nvPr/>
        </p:nvSpPr>
        <p:spPr>
          <a:xfrm>
            <a:off x="365760" y="2926080"/>
            <a:ext cx="109728" cy="11887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926080"/>
            <a:ext cx="10972800" cy="365760"/>
          </a:xfrm>
          <a:prstGeom prst="rect">
            <a:avLst/>
          </a:prstGeom>
          <a:noFill/>
        </p:spPr>
        <p:txBody>
          <a:bodyPr wrap="square">
            <a:spAutoFit/>
          </a:bodyPr>
          <a:lstStyle/>
          <a:p>
            <a:pPr algn="l"/>
            <a:r>
              <a:rPr sz="1400" b="1" i="0">
                <a:solidFill>
                  <a:srgbClr val="1F3564"/>
                </a:solidFill>
              </a:rPr>
              <a:t>Criteria 2 — FEA Practices: COMPLIANT</a:t>
            </a:r>
          </a:p>
        </p:txBody>
      </p:sp>
      <p:sp>
        <p:nvSpPr>
          <p:cNvPr id="14" name="TextBox 13"/>
          <p:cNvSpPr txBox="1"/>
          <p:nvPr/>
        </p:nvSpPr>
        <p:spPr>
          <a:xfrm>
            <a:off x="594360" y="3310128"/>
            <a:ext cx="10972800" cy="1005840"/>
          </a:xfrm>
          <a:prstGeom prst="rect">
            <a:avLst/>
          </a:prstGeom>
          <a:noFill/>
        </p:spPr>
        <p:txBody>
          <a:bodyPr wrap="square">
            <a:spAutoFit/>
          </a:bodyPr>
          <a:lstStyle/>
          <a:p>
            <a:pPr algn="l"/>
            <a:r>
              <a:rPr sz="1100" b="0" i="0">
                <a:solidFill>
                  <a:srgbClr val="404040"/>
                </a:solidFill>
              </a:rPr>
              <a:t>Half-symmetry model with correct boundary conditions (Symmetry, Fixed Geometry, 15N Force). Multiple Static studies with progressive local mesh refinement performed at a consistent probe location until ±2% stress convergence achieved.</a:t>
            </a:r>
          </a:p>
        </p:txBody>
      </p:sp>
      <p:sp>
        <p:nvSpPr>
          <p:cNvPr id="15" name="Rectangle 14"/>
          <p:cNvSpPr/>
          <p:nvPr/>
        </p:nvSpPr>
        <p:spPr>
          <a:xfrm>
            <a:off x="365760" y="4480560"/>
            <a:ext cx="109728" cy="118872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480560"/>
            <a:ext cx="10972800" cy="365760"/>
          </a:xfrm>
          <a:prstGeom prst="rect">
            <a:avLst/>
          </a:prstGeom>
          <a:noFill/>
        </p:spPr>
        <p:txBody>
          <a:bodyPr wrap="square">
            <a:spAutoFit/>
          </a:bodyPr>
          <a:lstStyle/>
          <a:p>
            <a:pPr algn="l"/>
            <a:r>
              <a:rPr sz="1400" b="1" i="0">
                <a:solidFill>
                  <a:srgbClr val="1F3564"/>
                </a:solidFill>
              </a:rPr>
              <a:t>Result</a:t>
            </a:r>
          </a:p>
        </p:txBody>
      </p:sp>
      <p:sp>
        <p:nvSpPr>
          <p:cNvPr id="17" name="TextBox 16"/>
          <p:cNvSpPr txBox="1"/>
          <p:nvPr/>
        </p:nvSpPr>
        <p:spPr>
          <a:xfrm>
            <a:off x="594360" y="4864608"/>
            <a:ext cx="10972800" cy="1005840"/>
          </a:xfrm>
          <a:prstGeom prst="rect">
            <a:avLst/>
          </a:prstGeom>
          <a:noFill/>
        </p:spPr>
        <p:txBody>
          <a:bodyPr wrap="square">
            <a:spAutoFit/>
          </a:bodyPr>
          <a:lstStyle/>
          <a:p>
            <a:pPr algn="l"/>
            <a:r>
              <a:rPr sz="1100" b="0" i="0">
                <a:solidFill>
                  <a:srgbClr val="404040"/>
                </a:solidFill>
              </a:rPr>
              <a:t>The component is structurally safe under its design load, validating both the manufacturability and structural performance of the buckle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