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Manufacturing Feature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</a:rPr>
              <a:t>Injection-Moulded Plastic Side-Release Buckle (50 mm)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Assessment 2 — Group Investigation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DM024-4-2 Manufacturing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Adam Mohamed Abdelkader Mohamed Elbannani  |  TP073524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Asia Pacific University of Technology &amp; Innovation (APU)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June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Presentation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5166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Product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733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50 mm plastic side-release buckle manufactured via injection moulding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45720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Manufacturing Features 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877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8 key DfM features observed on the physical component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45720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Feature Analysis &amp;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021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Significance of each feature, process implications, and quality assessment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45720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Conclusions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165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Summary of findings and design-for-manufacture evaluation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45720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3309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Academic and industry sources cited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50 mm Plastic Side-Release Buckle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5349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1F3564"/>
                </a:solidFill>
              </a:rPr>
              <a:t>Product: </a:t>
            </a:r>
            <a:r>
              <a:rPr sz="1100">
                <a:solidFill>
                  <a:srgbClr val="404040"/>
                </a:solidFill>
              </a:rPr>
              <a:t>50 mm Plastic Side-Release Buckle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3564"/>
                </a:solidFill>
              </a:rPr>
              <a:t>Material: </a:t>
            </a:r>
            <a:r>
              <a:rPr sz="1100">
                <a:solidFill>
                  <a:srgbClr val="404040"/>
                </a:solidFill>
              </a:rPr>
              <a:t>Nylon (Polyamide PA6) — injection moulded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3564"/>
                </a:solidFill>
              </a:rPr>
              <a:t>Application: </a:t>
            </a:r>
            <a:r>
              <a:rPr sz="1100">
                <a:solidFill>
                  <a:srgbClr val="404040"/>
                </a:solidFill>
              </a:rPr>
              <a:t>Backpacks, safety harnesses, luggage straps, outdoor gear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3564"/>
                </a:solidFill>
              </a:rPr>
              <a:t>Components: </a:t>
            </a:r>
            <a:r>
              <a:rPr sz="1100">
                <a:solidFill>
                  <a:srgbClr val="404040"/>
                </a:solidFill>
              </a:rPr>
              <a:t>Male insert (with snap hook) + Female receiver (with release arms)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3564"/>
                </a:solidFill>
              </a:rPr>
              <a:t>Function: </a:t>
            </a:r>
            <a:r>
              <a:rPr sz="1100">
                <a:solidFill>
                  <a:srgbClr val="404040"/>
                </a:solidFill>
              </a:rPr>
              <a:t>Quick-connect/disconnect fastening under tensile strap load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3564"/>
                </a:solidFill>
              </a:rPr>
              <a:t>Load capacity: </a:t>
            </a:r>
            <a:r>
              <a:rPr sz="1100">
                <a:solidFill>
                  <a:srgbClr val="404040"/>
                </a:solidFill>
              </a:rPr>
              <a:t>Designed for repeated engagement cycles at up to 15 N lateral force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760720" cy="512064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704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 Photographs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2560320" cy="21031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Photo 2
Front Face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691640"/>
            <a:ext cx="2560320" cy="21031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331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Photo 4
Back Face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931920"/>
            <a:ext cx="5303520" cy="219456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754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Photo 7
Male Insert Side View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1: Parting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3 — Side Edge Close-Up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The parting line is the seam where the two halves of the injection mould meet and separate after solidification.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A continuous raised line is visible running along the mid-plane of the buckle body on both male and female components, consistent with a horizontal parting plane.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Confirms a two-plate mould configuration.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Positioned along the widest cross-section to facilitate smooth ejection.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Slight flash visible at the parting line indicates minor mould wear — acceptable within tolerance.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Parting line placement is critical: incorrect positioning causes undercuts and increases tooling cost.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1F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ACCEPTABLE — parting line is clean, flash is minimal and non-functional.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3 — Side Edge Close-Up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1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Parting 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2: Draft Angles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6 — Inner Face of Male Insert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Draft angles are tapers applied to vertical walls of a moulded part to allow the part to release cleanly from the mould without drag or damage.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Inner cavity walls and the strap bar channel walls show a slight taper (estimated 1°–2°) when inspected under angled lighting. Outer side walls show similar draft.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Draft angle of ≥1° is industry standard for PA6 material.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Insufficient draft would cause the part to stick in the cavity, increasing cycle time and causing surface damage.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The snap arm is designed with sufficient draft to ensure release without collapsing the spring geometry.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Correct draft contributes to consistent part dimensional accuracy.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GOOD — consistent taper observed on all vertical surfaces.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6 — Inner Face of Male Insert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2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Draft Angles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3: Nominal Wall Thickness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5 — Back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Nominal wall thickness refers to the uniform target thickness maintained throughout the part walls to ensure consistent cooling, structural rigidity, and material economy.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Wall thickness measured approximately 2.0–2.5 mm across the body, strap bar, and outer frame. Thicker sections observed at the snap hook base (stress concentration point).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Uniform wall thickness minimises differential shrinkage and warpage during cooling.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PA6 recommended wall thickness: 1.5–3.0 mm — this buckle falls within spec.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The snap arm is slightly thinner to enable elastic deflection during engagement.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Abrupt thickness transitions are avoided, reducing sink marks and internal voids.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GOOD — walls are uniform with appropriate localised reinforcement at load-bearing zones.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5 — Back Face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3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Nominal Wall Thickness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4: Absence of Flash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10 — Tip Close-Up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Flash is unwanted thin excess plastic that bleeds into mould parting surfaces, ejector pin clearances, or vents. Its absence indicates good mould clamping and condition.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Minimal flash observed only at the parting line seam. No flash present on the snap hook tips, ejector pin locations, or internal channels.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Flash absence indicates adequate clamp force and well-maintained mould surfaces.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Snap hook tip is flash-free — critical, as flash here would prevent proper engagement with the female receiver.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Confirms the mould is relatively new or well-maintained.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Flash at functional surfaces would require manual de-flashing, increasing production cost.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GOOD — functionally critical surfaces are flash-free.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10 — Tip Close-Up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4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Absence of Flash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5: Ejector Pin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4 — Back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Ejector pin marks are small circular witness marks left on the part surface where steel pins push the solidified part out of the mould cavity.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Four circular witness marks (~2 mm diameter) visible on the back face of the male insert body. Slightly raised above the surrounding surface by approximately 0.1–0.2 mm.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Location on the back face (non-cosmetic, non-functional surface) is optimal practice.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Slight protrusion indicates ejector pins are slightly longer than flush — minor tool adjustment needed.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Pin pattern confirms the ejection system is distributed evenly to prevent part warping during ejection.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Sunken marks would indicate excessive ejection force or insufficient cooling time.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1F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ACCEPTABLE — marks are on non-functional surface; slight protrusion is cosmetically minor.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4 — Back Face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5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Ejector Pin 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6: 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9 — Inner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Coring is the removal of material from thick sections to create hollow or ribbed regions, reducing material usage, cycle time, and sink mark risk.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The central body of both male and female components is hollow/cored rather than solid. Ribs are present on the inner face to maintain structural stiffness while reducing cross-sectional mass.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Coring reduces part weight — important for consumer products.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Hollow centre reduces cooling time and eliminates sink marks on the outer surface.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Ribs on the inner face restore rigidity equivalent to a solid section at a fraction of the material.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Rib thickness is approximately 60% of adjacent wall thickness — following the standard design rule.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EXCELLENT — coring is well-implemented with appropriate ribbing.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9 — Inner Face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6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Coring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7: Weld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11 — Prong Side Close-Up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Weld lines (knit lines) form where two or more melt flow fronts meet and re-join during filling. They represent a zone of reduced strength.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A faint weld line is visible on the underside of the snap arm, near the prong tip — indicating two flow fronts met in this region after flowing around the mould core.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Weld line at the snap hook is a design concern — this is the highest-stress region identified in FEA.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PA6 weld line strength is approximately 80–85% of the base material strength.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The FEA confirmed maximum stress of ~47.75 MPa at this region — still well below yield strength (193.6 MPa).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Gate position should be optimised to push weld lines away from stress-critical areas in future design revisions.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MODERATE CONCERN — weld line is at stress concentration zone; structurally safe but should be relocated.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11 — Prong Side Close-Up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7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Weld 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8: Gate Vestige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Photo reference: Photo 14 — Female Receiver Front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13232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Definition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6903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Definition: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The gate vestige is the remnant of the injection gate — the channel through which molten plastic enters the mould cavity — after the runner system is removed.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Observation: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A small nub (~1.5 mm) is present on the bottom edge of the female receiver near the strap bar slot. The gate appears to be a pin-point or edge gate type.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Significance: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Gate location on the bottom edge minimises cosmetic impact on visible surfaces.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Pin-point gate is consistent with automated degating in a hot-runner system.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Gate vestige size is small, indicating clean breakage — minimal manual trimming required.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04040"/>
                </a:solidFill>
              </a:rPr>
              <a:t>• Gate placement away from the snap mechanism prevents weld lines at the functional snap interface.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1F3564"/>
                </a:solidFill>
              </a:rPr>
              <a:t>Quality Assessment: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06440"/>
            <a:ext cx="6812280" cy="38404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24728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GOOD — gate is well-positioned and vestige is minimal.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43000"/>
            <a:ext cx="4325112" cy="516636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143000"/>
            <a:ext cx="432511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61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Photograph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600200"/>
            <a:ext cx="3959352" cy="3474720"/>
          </a:xfrm>
          <a:prstGeom prst="rect">
            <a:avLst/>
          </a:prstGeom>
          <a:solidFill>
            <a:srgbClr val="C0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PHOTO HERE ]
Photo 14 — Female Receiver Front Face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95935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230368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8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53212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Gate Vestige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 Results — Mesh Convergence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SolidWorks Simulation | Static Analysis | PA Type 6 | Half-Symmetry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40312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Convergence Table — Von Mises Stress at Snap Hook Fillet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118872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099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691640"/>
            <a:ext cx="22860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7099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Mesh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691640"/>
            <a:ext cx="164592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17099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Elements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59" y="1691640"/>
            <a:ext cx="201168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79" y="17099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Max Stress (MPa)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691640"/>
            <a:ext cx="164592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7099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%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691640"/>
            <a:ext cx="256032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70992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48840"/>
            <a:ext cx="11887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1945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Static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2148840"/>
            <a:ext cx="228600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2194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Global 2mm/1mm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148840"/>
            <a:ext cx="16459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59" y="21945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25,548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59" y="2148840"/>
            <a:ext cx="201168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79" y="21945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56.0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148840"/>
            <a:ext cx="16459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21945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2148840"/>
            <a:ext cx="25603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19456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Baseline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651760"/>
            <a:ext cx="1188720" cy="4754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6974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Static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2651760"/>
            <a:ext cx="2286000" cy="4754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08760" y="26974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Local 0.5mm/0.25mm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2651760"/>
            <a:ext cx="1645920" cy="4754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59" y="2697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59" y="2651760"/>
            <a:ext cx="2011680" cy="4754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79" y="26974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46.63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651760"/>
            <a:ext cx="1645920" cy="4754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2697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20.1%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2651760"/>
            <a:ext cx="2560320" cy="47548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269748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Not converged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54680"/>
            <a:ext cx="11887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2004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Static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3154680"/>
            <a:ext cx="228600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08760" y="32004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Local 0.25mm/0.125mm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39" y="3154680"/>
            <a:ext cx="16459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59" y="3200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59" y="3154680"/>
            <a:ext cx="201168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0679" y="3200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32.66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3154680"/>
            <a:ext cx="16459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2360" y="3200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42.8%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3154680"/>
            <a:ext cx="2560320" cy="475488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20040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Not converged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657600"/>
            <a:ext cx="1188720" cy="475488"/>
          </a:xfrm>
          <a:prstGeom prst="rect">
            <a:avLst/>
          </a:prstGeom>
          <a:solidFill>
            <a:srgbClr val="D5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3703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Static 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63040" y="3657600"/>
            <a:ext cx="2286000" cy="475488"/>
          </a:xfrm>
          <a:prstGeom prst="rect">
            <a:avLst/>
          </a:prstGeom>
          <a:solidFill>
            <a:srgbClr val="D5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08760" y="3703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Local 0.125mm/0.0625mm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39" y="3657600"/>
            <a:ext cx="1645920" cy="475488"/>
          </a:xfrm>
          <a:prstGeom prst="rect">
            <a:avLst/>
          </a:prstGeom>
          <a:solidFill>
            <a:srgbClr val="D5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94759" y="37033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94959" y="3657600"/>
            <a:ext cx="2011680" cy="475488"/>
          </a:xfrm>
          <a:prstGeom prst="rect">
            <a:avLst/>
          </a:prstGeom>
          <a:solidFill>
            <a:srgbClr val="D5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40679" y="3703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47.75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06640" y="3657600"/>
            <a:ext cx="1645920" cy="475488"/>
          </a:xfrm>
          <a:prstGeom prst="rect">
            <a:avLst/>
          </a:prstGeom>
          <a:solidFill>
            <a:srgbClr val="D5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52360" y="37033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31.6%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3657600"/>
            <a:ext cx="2560320" cy="475488"/>
          </a:xfrm>
          <a:prstGeom prst="rect">
            <a:avLst/>
          </a:prstGeom>
          <a:solidFill>
            <a:srgbClr val="D5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98280" y="3703320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Final result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251960"/>
            <a:ext cx="11640312" cy="1645920"/>
          </a:xfrm>
          <a:prstGeom prst="rect">
            <a:avLst/>
          </a:prstGeom>
          <a:solidFill>
            <a:srgbClr val="D5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4320" y="4251960"/>
            <a:ext cx="11640312" cy="347472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27024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Safety Assessment — Part is SAFE under 15 N Operating Load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6634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</a:rPr>
              <a:t>• Maximum Von Mises stress (Static 4): 47.75 MPa   |   PA Type 6 Yield Strength: 193.6 MPa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</a:rPr>
              <a:t>• Factor of Safety = 193.6 / 47.75 = 4.05  —  Part will NOT yield under normal operating conditions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</a:rPr>
              <a:t>• Note: Stress concentration observed at snap hook fillet (Fillet1) — consistent with weld line location identified in physical inspection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</a:rPr>
              <a:t>• Convergence trend shows stress is stabilising; further mesh refinement recommended for final validation in production design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1143000"/>
            <a:ext cx="4142232" cy="2926080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72400" y="1143000"/>
            <a:ext cx="4142232" cy="3200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1161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Von Mises Stress Plot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2194560"/>
            <a:ext cx="3959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564"/>
                </a:solidFill>
              </a:rPr>
              <a:t>[ INSERT SCREENSHOT
Stress Plot — Static 4 ]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Manufacturing Feature Evaluation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40312" cy="51663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09728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All 8 DfM Features Successfully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1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The physical inspection of the 50 mm PA6 injection-moulded buckle revealed all eight target manufacturing features: parting line, draft angles, nominal wall thickness, absence of flash, ejector pin marks, coring, weld lines, and gate vestige.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09728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Component Demonstrates Sound DfM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Six of eight features were rated GOOD or EXCELLENT. The manufacturer has applied industry-standard design rules: uniform wall thickness (2.0–2.5 mm), appropriate draft angles (≥1°), strategic gate placement, and effective coring with ribbing.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109728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Critical Area Identified — Weld Line at Snap 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 weld line was observed at the snap hook fillet — the highest-stress zone confirmed by FEA (47.75 MPa). While structurally safe (FoS = 4.05), gate repositioning is recommended to shift the weld line away from this region.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109728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46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FEA Validated Structural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93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Static simulation across 4 mesh refinement studies confirmed the part operates at 47.75 MPa peak stress — 24.7% of the material yield strength. The buckle is suitable for its intended application under standard strap loading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DM024-4-2 Manufacturing Processes  |  Assessment 2  |  APU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Adam Mohamed  |  TP073524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[1]  Bryce, D. M. (1996). Plastic Injection Molding: Manufacturing Process Fundamentals. Society of Manufacturing Engineers.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[2]  Rosato, D. V., &amp; Rosato, M. G. (2012). Injection Molding Handbook (3rd ed.). Springer Science &amp; Business Media.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[3]  Harper, C. A. (2006). Handbook of Plastics Technologies. McGraw-Hill.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[4]  SOLIDWORKS Simulation Help Documentation (2023). Dassault Systèmes. [Software].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[5]  MatWeb (2024). Nylon 6 (Polyamide 6, PA6) Material Data Sheet. Retrieved from www.matweb.com.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[6]  Suresh, G., &amp; Rao, P. S. (2013). DFM guidelines for injection moulded components: A review. International Journal of Engineering Research and Technology, 2(6), 1–8.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[7]  Malloy, R. A. (1994). Plastic Part Design for Injection Molding. Hanser Publishers.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404040"/>
                </a:solidFill>
              </a:rPr>
              <a:t>[8]  Menges, G., Michaeli, W., &amp; Mohren, P. (2001). How to Make Injection Molds (3rd ed.). Hanser Gardner Publications.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